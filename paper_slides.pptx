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D6A9F"/>
                </a:solidFill>
              </a:rPr>
              <a:t>1. Foundational MA-RS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RF0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AgentCF: Collaborative Learning with Autonomous Language Agents for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Zhang et al.  ·  WWW 2024  ·  2023  ·  arxiv.org/abs/2310.09233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Recommendation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MovieLens; Amazon product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Collaborative filtering via autonomous LLM user/item agents</a:t>
            </a:r>
          </a:p>
          <a:p>
            <a:r>
              <a:rPr sz="1200">
                <a:solidFill>
                  <a:srgbClr val="222222"/>
                </a:solidFill>
              </a:rPr>
              <a:t>• Agents self-evolve memories through interaction</a:t>
            </a:r>
          </a:p>
          <a:p>
            <a:r>
              <a:rPr sz="1200">
                <a:solidFill>
                  <a:srgbClr val="222222"/>
                </a:solidFill>
              </a:rPr>
              <a:t>• Foundation for agentic RecSys threat modelling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RF0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MACRec: A Multi-Agent Collaboration Framework for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Wang et al.  ·  arXiv 2024  ·  2024  ·  arxiv.org/abs/2402.15235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Task completion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MovieLens-1M; Amazon Beauty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Hierarchical MACRec: manager dispatches analyst agents</a:t>
            </a:r>
          </a:p>
          <a:p>
            <a:r>
              <a:rPr sz="1200">
                <a:solidFill>
                  <a:srgbClr val="222222"/>
                </a:solidFill>
              </a:rPr>
              <a:t>• Modular design enables independent constraint per role</a:t>
            </a:r>
          </a:p>
          <a:p>
            <a:r>
              <a:rPr sz="1200">
                <a:solidFill>
                  <a:srgbClr val="222222"/>
                </a:solidFill>
              </a:rPr>
              <a:t>• Baseline for hierarchical delegation failure modes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RF0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Orchestrating Users and Items for Agentic Recommendations (MACF)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Wu et al.  ·  arXiv 2025  ·  2025  ·  arxiv.org/abs/2511.18413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Recommendation diversity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 product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Orchestrator dynamically recruits user-side and item-side agents</a:t>
            </a:r>
          </a:p>
          <a:p>
            <a:r>
              <a:rPr sz="1200">
                <a:solidFill>
                  <a:srgbClr val="222222"/>
                </a:solidFill>
              </a:rPr>
              <a:t>• Decentralised peer-ecosystem topology</a:t>
            </a:r>
          </a:p>
          <a:p>
            <a:r>
              <a:rPr sz="1200">
                <a:solidFill>
                  <a:srgbClr val="222222"/>
                </a:solidFill>
              </a:rPr>
              <a:t>• Demonstrates contagion risk across peer agents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RF0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Towards Agentic Recommender Systems in the Era of Multimodal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Li et al.  ·  arXiv 2025  ·  2025  ·  arxiv.org/abs/2503.16734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Recommendation accuracy; Multimodal alignment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Multimodal product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Extends agentic RecSys to multimodal LLMs</a:t>
            </a:r>
          </a:p>
          <a:p>
            <a:r>
              <a:rPr sz="1200">
                <a:solidFill>
                  <a:srgbClr val="222222"/>
                </a:solidFill>
              </a:rPr>
              <a:t>• Covers image/text/video item representations</a:t>
            </a:r>
          </a:p>
          <a:p>
            <a:r>
              <a:rPr sz="1200">
                <a:solidFill>
                  <a:srgbClr val="222222"/>
                </a:solidFill>
              </a:rPr>
              <a:t>• Identifies new attack surfaces from multimodal tool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Survey on LLM-powered Agents for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arxiv.org/abs/2502.10050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Survey coverage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Literature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Comprehensive survey of LLM-powered agents for RecSys</a:t>
            </a:r>
          </a:p>
          <a:p>
            <a:r>
              <a:rPr sz="1200">
                <a:solidFill>
                  <a:srgbClr val="222222"/>
                </a:solidFill>
              </a:rPr>
              <a:t>• Taxonomy of agent roles, memory, and tool use</a:t>
            </a:r>
          </a:p>
          <a:p>
            <a:r>
              <a:rPr sz="1200">
                <a:solidFill>
                  <a:srgbClr val="222222"/>
                </a:solidFill>
              </a:rPr>
              <a:t>• Background for risk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Definitions, Perspectives, and Open Challenges of Multi-Agent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Yousefi et al.  ·  arXiv 2025  ·  2025  ·  arxiv.org/abs/2507.02097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Survey coverage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Literature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Defines multi-agent RecSys; surveys design patterns</a:t>
            </a:r>
          </a:p>
          <a:p>
            <a:r>
              <a:rPr sz="1200">
                <a:solidFill>
                  <a:srgbClr val="222222"/>
                </a:solidFill>
              </a:rPr>
              <a:t>• E-commerce application focus</a:t>
            </a:r>
          </a:p>
          <a:p>
            <a:r>
              <a:rPr sz="1200">
                <a:solidFill>
                  <a:srgbClr val="222222"/>
                </a:solidFill>
              </a:rPr>
              <a:t>• Companion to RecSys '25 tutorial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No-Human in the Loop: Agentic Evaluation at Scale for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Zhang et al.  ·  NeurIPS WS 2025  ·  2025  ·  arxiv.org/abs/2511.03051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Evaluation accuracy vs. human judges; Cost per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RecSys benchmark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Agentic evaluation at scale without human annotators</a:t>
            </a:r>
          </a:p>
          <a:p>
            <a:r>
              <a:rPr sz="1200">
                <a:solidFill>
                  <a:srgbClr val="222222"/>
                </a:solidFill>
              </a:rPr>
              <a:t>• LLM-as-judge for recommendation quality</a:t>
            </a:r>
          </a:p>
          <a:p>
            <a:r>
              <a:rPr sz="1200">
                <a:solidFill>
                  <a:srgbClr val="222222"/>
                </a:solidFill>
              </a:rPr>
              <a:t>• Enables automated red-teaming pipelines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D6A9F"/>
                </a:solidFill>
              </a:rPr>
              <a:t>2. Risk Family 1 — Prompt Injection &amp; Jailbreaking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Securing AI Agents Against Prompt Injection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Zhuang et al.  ·  arXiv 2025  ·  2025  ·  arxiv.org/abs/2511.15759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RAG / General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ASR: Attack Success Rate</a:t>
            </a:r>
          </a:p>
          <a:p>
            <a:r>
              <a:rPr sz="1100">
                <a:solidFill>
                  <a:srgbClr val="222222"/>
                </a:solidFill>
              </a:rPr>
              <a:t>• FPR: False Positive Rate</a:t>
            </a:r>
          </a:p>
          <a:p>
            <a:r>
              <a:rPr sz="1100">
                <a:solidFill>
                  <a:srgbClr val="222222"/>
                </a:solidFill>
              </a:rPr>
              <a:t>• Task Performance Retention (TPR)</a:t>
            </a:r>
          </a:p>
          <a:p>
            <a:r>
              <a:rPr sz="1100">
                <a:solidFill>
                  <a:srgbClr val="222222"/>
                </a:solidFill>
              </a:rPr>
              <a:t>• Defense Bypass Rate (DBR)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484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04488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Custom benchmark: 847 adversarial test cases, 5 attack categories</a:t>
            </a:r>
          </a:p>
          <a:p>
            <a:r>
              <a:rPr sz="1100">
                <a:solidFill>
                  <a:srgbClr val="222222"/>
                </a:solidFill>
              </a:rPr>
              <a:t>• 500 benign retrieval contexts</a:t>
            </a:r>
          </a:p>
          <a:p>
            <a:r>
              <a:rPr sz="1100">
                <a:solidFill>
                  <a:srgbClr val="222222"/>
                </a:solidFill>
              </a:rPr>
              <a:t>• 7 LLMs: GPT-4, GPT-3.5, Claude 2.1, PaLM 2, Llama-2-70B, Mistral-7B, Vicuna-13B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Systematic benchmark for prompt injection in RAG-enabled agents</a:t>
            </a:r>
          </a:p>
          <a:p>
            <a:r>
              <a:rPr sz="1200">
                <a:solidFill>
                  <a:srgbClr val="222222"/>
                </a:solidFill>
              </a:rPr>
              <a:t>• Multi-layer defence: content filtering + guardrails + response verification</a:t>
            </a:r>
          </a:p>
          <a:p>
            <a:r>
              <a:rPr sz="1200">
                <a:solidFill>
                  <a:srgbClr val="222222"/>
                </a:solidFill>
              </a:rPr>
              <a:t>• Reduces ASR from 73.2% to 8.7% while retaining 94.3% task performance</a:t>
            </a:r>
          </a:p>
          <a:p>
            <a:r>
              <a:rPr sz="1200">
                <a:solidFill>
                  <a:srgbClr val="222222"/>
                </a:solidFill>
              </a:rPr>
              <a:t>• Ablation shows all three defence layers provide complementary benefits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Multi-Agent Systems Execute Arbitrary Malicious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Debenedetti et al.  ·  arXiv 2025  ·  2025  ·  arxiv.org/abs/2503.12188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Coding / 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ASR: Attack Success Rate (reverse shell / data exfiltration)</a:t>
            </a:r>
          </a:p>
          <a:p>
            <a:r>
              <a:rPr sz="1100">
                <a:solidFill>
                  <a:srgbClr val="222222"/>
                </a:solidFill>
              </a:rPr>
              <a:t>• Refusal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729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2900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AutoGen (Magentic-One, Selector, Round-Robin); CrewAI; MetaGPT</a:t>
            </a:r>
          </a:p>
          <a:p>
            <a:r>
              <a:rPr sz="1100">
                <a:solidFill>
                  <a:srgbClr val="222222"/>
                </a:solidFill>
              </a:rPr>
              <a:t>• GPT-4o, GPT-4o-mini, Gemini 1.5 Pro/Flash</a:t>
            </a:r>
          </a:p>
          <a:p>
            <a:r>
              <a:rPr sz="1100">
                <a:solidFill>
                  <a:srgbClr val="222222"/>
                </a:solidFill>
              </a:rPr>
              <a:t>• Local file, web text, web image, local video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MAS hijacking: adversarial content targets orchestration metadata, not individual agents</a:t>
            </a:r>
          </a:p>
          <a:p>
            <a:r>
              <a:rPr sz="1200">
                <a:solidFill>
                  <a:srgbClr val="222222"/>
                </a:solidFill>
              </a:rPr>
              <a:t>• IPI almost completely fails; MAS hijacking succeeds 40–90% across frameworks</a:t>
            </a:r>
          </a:p>
          <a:p>
            <a:r>
              <a:rPr sz="1200">
                <a:solidFill>
                  <a:srgbClr val="222222"/>
                </a:solidFill>
              </a:rPr>
              <a:t>• Laundering through sub-agents evades safety alignment of orchestrator</a:t>
            </a:r>
          </a:p>
          <a:p>
            <a:r>
              <a:rPr sz="1200">
                <a:solidFill>
                  <a:srgbClr val="222222"/>
                </a:solidFill>
              </a:rPr>
              <a:t>• Observed MAS executing harmful code even after sub-agents refused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Breaking and Fixing Defenses Against Control-Flow Hijacking in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Debenedetti et al.  ·  arXiv 2025  ·  2025  ·  arxiv.org/abs/2510.17276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Coding / 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ASR: Attack Success Rate (CFH and IPI)</a:t>
            </a:r>
          </a:p>
          <a:p>
            <a:r>
              <a:rPr sz="1100">
                <a:solidFill>
                  <a:srgbClr val="222222"/>
                </a:solidFill>
              </a:rPr>
              <a:t>• Benign task success rate (accuracy + LLM judge)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729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2900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CFH-Hard coding (10 tasks); CFH-Hard computer use (6 tasks)</a:t>
            </a:r>
          </a:p>
          <a:p>
            <a:r>
              <a:rPr sz="1100">
                <a:solidFill>
                  <a:srgbClr val="222222"/>
                </a:solidFill>
              </a:rPr>
              <a:t>• AgentDojo Slack (21 tasks)</a:t>
            </a:r>
          </a:p>
          <a:p>
            <a:r>
              <a:rPr sz="1100">
                <a:solidFill>
                  <a:srgbClr val="222222"/>
                </a:solidFill>
              </a:rPr>
              <a:t>• AutoGen Magentic-One; o4-mini orchestrator; GPT-4o sub-agents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Introduces control-flow hijacking (CFH): attacks MAS orchestration, not individual agents</a:t>
            </a:r>
          </a:p>
          <a:p>
            <a:r>
              <a:rPr sz="1200">
                <a:solidFill>
                  <a:srgbClr val="222222"/>
                </a:solidFill>
              </a:rPr>
              <a:t>• Existing defences (least-privilege, LlamaFirewall, Azure Content Filters) fail against CFH</a:t>
            </a:r>
          </a:p>
          <a:p>
            <a:r>
              <a:rPr sz="1200">
                <a:solidFill>
                  <a:srgbClr val="222222"/>
                </a:solidFill>
              </a:rPr>
              <a:t>• ControlValve: generates control-flow graph + context rules at planning time</a:t>
            </a:r>
          </a:p>
          <a:p>
            <a:r>
              <a:rPr sz="1200">
                <a:solidFill>
                  <a:srgbClr val="222222"/>
                </a:solidFill>
              </a:rPr>
              <a:t>• Blocks all evaluated CFH attacks; maintains or improves benign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Jailbreaking LLMs via Iterative Tool-Disguised Attacks via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Chen et al.  ·  arXiv 2026  ·  2026  ·  arxiv.org/abs/2601.05466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 (jailbreak)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JADES Score: harmfulness of attack output (0–1)</a:t>
            </a:r>
          </a:p>
          <a:p>
            <a:r>
              <a:rPr sz="1100">
                <a:solidFill>
                  <a:srgbClr val="222222"/>
                </a:solidFill>
              </a:rPr>
              <a:t>• StrongREJECT Score: refusal × convincingness × specificity</a:t>
            </a:r>
          </a:p>
          <a:p>
            <a:r>
              <a:rPr sz="1100">
                <a:solidFill>
                  <a:srgbClr val="222222"/>
                </a:solidFill>
              </a:rPr>
              <a:t>• Detection Rate: % flagged by LlamaGuard, ShieldLM, PPL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107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66744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JailbreakBench Behaviors (JBB): 100 harmful behaviours, 10 categories</a:t>
            </a:r>
          </a:p>
          <a:p>
            <a:r>
              <a:rPr sz="1100">
                <a:solidFill>
                  <a:srgbClr val="222222"/>
                </a:solidFill>
              </a:rPr>
              <a:t>• HarmfulQA: 50 harmful questions</a:t>
            </a:r>
          </a:p>
          <a:p>
            <a:r>
              <a:rPr sz="1100">
                <a:solidFill>
                  <a:srgbClr val="222222"/>
                </a:solidFill>
              </a:rPr>
              <a:t>• Target LLMs: DeepSeek-V3, Qwen3-32B, GPT-OSS-120B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iMIST: disguises malicious queries as legitimate tool invocations</a:t>
            </a:r>
          </a:p>
          <a:p>
            <a:r>
              <a:rPr sz="1200">
                <a:solidFill>
                  <a:srgbClr val="222222"/>
                </a:solidFill>
              </a:rPr>
              <a:t>• RL-guided interactive progressive optimisation escalates harmfulness across turns</a:t>
            </a:r>
          </a:p>
          <a:p>
            <a:r>
              <a:rPr sz="1200">
                <a:solidFill>
                  <a:srgbClr val="222222"/>
                </a:solidFill>
              </a:rPr>
              <a:t>• Outperforms all baselines (ArtPrompt, FlipAttack, PAIR, TAP, PASS, etc.)</a:t>
            </a:r>
          </a:p>
          <a:p>
            <a:r>
              <a:rPr sz="1200">
                <a:solidFill>
                  <a:srgbClr val="222222"/>
                </a:solidFill>
              </a:rPr>
              <a:t>• Low detection rate (17.65% LlamaGuard) due to structured tool-call format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INJECAGENT: Benchmarking Indirect Prompt Injections in LLM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Zhan et al.  ·  ACL Findings 2024  ·  2024  ·  arxiv.org/abs/2403.02691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 (tool-use)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ASR-valid: ASR among valid (parseable) outputs</a:t>
            </a:r>
          </a:p>
          <a:p>
            <a:r>
              <a:rPr sz="1100">
                <a:solidFill>
                  <a:srgbClr val="222222"/>
                </a:solidFill>
              </a:rPr>
              <a:t>• ASR-all: ASR across all outputs</a:t>
            </a:r>
          </a:p>
          <a:p>
            <a:r>
              <a:rPr sz="1100">
                <a:solidFill>
                  <a:srgbClr val="222222"/>
                </a:solidFill>
              </a:rPr>
              <a:t>• Sensitivity Rate: % outputs recognising attack as abnormal</a:t>
            </a:r>
          </a:p>
          <a:p>
            <a:r>
              <a:rPr sz="1100">
                <a:solidFill>
                  <a:srgbClr val="222222"/>
                </a:solidFill>
              </a:rPr>
              <a:t>• Valid Rate: % outputs parseable as valid agent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484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0448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InjecAgent — 1,054 test cases, 17 user tools × 62 attacker tools</a:t>
            </a:r>
          </a:p>
          <a:p>
            <a:r>
              <a:rPr sz="1100">
                <a:solidFill>
                  <a:srgbClr val="222222"/>
                </a:solidFill>
              </a:rPr>
              <a:t>• 30 LLM agents evaluated (prompted + fine-tuned)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First benchmark for indirect prompt injection in tool-integrated agents</a:t>
            </a:r>
          </a:p>
          <a:p>
            <a:r>
              <a:rPr sz="1200">
                <a:solidFill>
                  <a:srgbClr val="222222"/>
                </a:solidFill>
              </a:rPr>
              <a:t>• ReAct-prompted GPT-4 vulnerable 24%; fine-tuned GPT-4 only 3.8%</a:t>
            </a:r>
          </a:p>
          <a:p>
            <a:r>
              <a:rPr sz="1200">
                <a:solidFill>
                  <a:srgbClr val="222222"/>
                </a:solidFill>
              </a:rPr>
              <a:t>• Content freedom of tool response placeholder is strongest predictor of ASR</a:t>
            </a:r>
          </a:p>
          <a:p>
            <a:r>
              <a:rPr sz="1200">
                <a:solidFill>
                  <a:srgbClr val="222222"/>
                </a:solidFill>
              </a:rPr>
              <a:t>• Enhanced setting (hacking prompt) nearly doubles ASR on GPT-4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Systematic Evaluation of Prompt Injection and Jailbreak Vulnerabilities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Pasquini et al.  ·  arXiv 2025  ·  2025  ·  arxiv.org/abs/2505.04806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 /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Detection Rate; False Positive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Multiple LLM agents and RAG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Systematic evaluation of prompt injection and jailbreak vulnerabilities</a:t>
            </a:r>
          </a:p>
          <a:p>
            <a:r>
              <a:rPr sz="1200">
                <a:solidFill>
                  <a:srgbClr val="222222"/>
                </a:solidFill>
              </a:rPr>
              <a:t>• Covers direct and indirect injection across agent types</a:t>
            </a:r>
          </a:p>
          <a:p>
            <a:r>
              <a:rPr sz="1200">
                <a:solidFill>
                  <a:srgbClr val="222222"/>
                </a:solidFill>
              </a:rPr>
              <a:t>• Benchmark for comparing defence mechanisms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Real-World Case Study of Attacking ChatGPT via Lightweight Prompt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Yu et al.  ·  arXiv 2026  ·  2025  ·  arxiv.org/abs/2504.16125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 (chatbot)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ASR: Attack Success Rate</a:t>
            </a:r>
          </a:p>
          <a:p>
            <a:r>
              <a:rPr sz="1100">
                <a:solidFill>
                  <a:srgbClr val="222222"/>
                </a:solidFill>
              </a:rPr>
              <a:t>• Injection success rate in real ChatGPT sessions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729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290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Real-world ChatGPT interactions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Lightweight prompt injection attack on ChatGPT in production</a:t>
            </a:r>
          </a:p>
          <a:p>
            <a:r>
              <a:rPr sz="1200">
                <a:solidFill>
                  <a:srgbClr val="222222"/>
                </a:solidFill>
              </a:rPr>
              <a:t>• Demonstrates real-world exploitability with minimal attacker resources</a:t>
            </a:r>
          </a:p>
          <a:p>
            <a:r>
              <a:rPr sz="1200">
                <a:solidFill>
                  <a:srgbClr val="222222"/>
                </a:solidFill>
              </a:rPr>
              <a:t>• Case study motivating deployment-time defences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Demystifying Prompt Injection Attacks on Agentic AI Coding Editors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arxiv.org/abs/2509.22040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Coding (AI coding editors)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Code injection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AI coding editor environments (Cursor, Copilot-style)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Demystifies prompt injection in agentic coding editors</a:t>
            </a:r>
          </a:p>
          <a:p>
            <a:r>
              <a:rPr sz="1200">
                <a:solidFill>
                  <a:srgbClr val="222222"/>
                </a:solidFill>
              </a:rPr>
              <a:t>• Attacker embeds malicious instructions in code comments or docs</a:t>
            </a:r>
          </a:p>
          <a:p>
            <a:r>
              <a:rPr sz="1200">
                <a:solidFill>
                  <a:srgbClr val="222222"/>
                </a:solidFill>
              </a:rPr>
              <a:t>• Injected code executes silently in developer workflows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Exploit Tool Invocation Prompt for Tool Behavior Hijacking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arxiv.org/abs/2509.05755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 (tool-use)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Tool hijacking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Tool-integrated LLM agent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Exploits tool invocation prompts to hijack agent behaviour</a:t>
            </a:r>
          </a:p>
          <a:p>
            <a:r>
              <a:rPr sz="1200">
                <a:solidFill>
                  <a:srgbClr val="222222"/>
                </a:solidFill>
              </a:rPr>
              <a:t>• Tool behaviour hijacking without modifying agent system prompt</a:t>
            </a:r>
          </a:p>
          <a:p>
            <a:r>
              <a:rPr sz="1200">
                <a:solidFill>
                  <a:srgbClr val="222222"/>
                </a:solidFill>
              </a:rPr>
              <a:t>• Demonstrates tool-layer as underprotected attack surface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07B39"/>
                </a:solidFill>
              </a:rPr>
              <a:t>3. Risk Family 2 — Data Poisoning &amp; Backdoor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BadRec: Exploring Backdoor Attack and Defense for LLM-empowered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Ning et al.  ·  arXiv 2025  ·  2025  ·  arxiv.org/abs/2504.11182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ASR (backdoor trigger)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 product datasets; MovieLens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Backdoor attack and defence for LLM-empowered RecSys</a:t>
            </a:r>
          </a:p>
          <a:p>
            <a:r>
              <a:rPr sz="1200">
                <a:solidFill>
                  <a:srgbClr val="222222"/>
                </a:solidFill>
              </a:rPr>
              <a:t>• Trigger-based attack degrades recommendations for target items</a:t>
            </a:r>
          </a:p>
          <a:p>
            <a:r>
              <a:rPr sz="1200">
                <a:solidFill>
                  <a:srgbClr val="222222"/>
                </a:solidFill>
              </a:rPr>
              <a:t>• Proposes detection and mitigation strategies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LoRec: Large Language Model for Robust Sequential Recommendation against Poisoning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Wang et al.  ·  SIGIR 2024  ·  2024  ·  arxiv.org/abs/2401.17723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Robustness under poisoning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MovieLens-1M; Amazon Beauty; Amazon Sports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LLM-based defence against poisoning in sequential RecSys</a:t>
            </a:r>
          </a:p>
          <a:p>
            <a:r>
              <a:rPr sz="1200">
                <a:solidFill>
                  <a:srgbClr val="222222"/>
                </a:solidFill>
              </a:rPr>
              <a:t>• Uses LLM to detect and filter fake user profiles</a:t>
            </a:r>
          </a:p>
          <a:p>
            <a:r>
              <a:rPr sz="1200">
                <a:solidFill>
                  <a:srgbClr val="222222"/>
                </a:solidFill>
              </a:rPr>
              <a:t>• Maintains recommendation quality while improving robustness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Manipulating Recommender Systems: A Survey of Poisoning Attacks and Countermeasures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Nguyen et al.  ·  arXiv 2024  ·  2024  ·  arxiv.org/abs/2404.14942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Poisoning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MovieLens; Amazon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Survey of poisoning attacks and countermeasures in RecSys</a:t>
            </a:r>
          </a:p>
          <a:p>
            <a:r>
              <a:rPr sz="1200">
                <a:solidFill>
                  <a:srgbClr val="222222"/>
                </a:solidFill>
              </a:rPr>
              <a:t>• Taxonomy of attack strategies: profile injection, bandwagon, etc.</a:t>
            </a:r>
          </a:p>
          <a:p>
            <a:r>
              <a:rPr sz="1200">
                <a:solidFill>
                  <a:srgbClr val="222222"/>
                </a:solidFill>
              </a:rPr>
              <a:t>• Covers both traditional CF and LLM-based recommenders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Survey on Adversarial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Deldjoo et al.  ·  ACM CSUR 2021  ·  2020  ·  arxiv.org/abs/2005.10322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Attack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MovieLens; Amazon; Yelp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Comprehensive survey of adversarial attacks on RecSys</a:t>
            </a:r>
          </a:p>
          <a:p>
            <a:r>
              <a:rPr sz="1200">
                <a:solidFill>
                  <a:srgbClr val="222222"/>
                </a:solidFill>
              </a:rPr>
              <a:t>• Covers evasion, poisoning, and model extraction attacks</a:t>
            </a:r>
          </a:p>
          <a:p>
            <a:r>
              <a:rPr sz="1200">
                <a:solidFill>
                  <a:srgbClr val="222222"/>
                </a:solidFill>
              </a:rPr>
              <a:t>• Foundational reference for RF2 threat modelling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Shilling Recommender Systems by Generating Side-feature-aware Fake User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arxiv.org/abs/2509.17918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Shilling attack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 product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Generates side-feature-aware fake user profiles for shilling</a:t>
            </a:r>
          </a:p>
          <a:p>
            <a:r>
              <a:rPr sz="1200">
                <a:solidFill>
                  <a:srgbClr val="222222"/>
                </a:solidFill>
              </a:rPr>
              <a:t>• LLM generates realistic fake reviews and profiles</a:t>
            </a:r>
          </a:p>
          <a:p>
            <a:r>
              <a:rPr sz="1200">
                <a:solidFill>
                  <a:srgbClr val="222222"/>
                </a:solidFill>
              </a:rPr>
              <a:t>• Harder to detect than traditional shilling attacks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LLM-Powered Audits Expose Shilling Attacks in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arxiv.org/abs/2509.24961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Shilling detection accuracy; Precision;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 product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LLM-powered audit system to detect shilling attacks</a:t>
            </a:r>
          </a:p>
          <a:p>
            <a:r>
              <a:rPr sz="1200">
                <a:solidFill>
                  <a:srgbClr val="222222"/>
                </a:solidFill>
              </a:rPr>
              <a:t>• Uses LLM reasoning to identify suspicious review patterns</a:t>
            </a:r>
          </a:p>
          <a:p>
            <a:r>
              <a:rPr sz="1200">
                <a:solidFill>
                  <a:srgbClr val="222222"/>
                </a:solidFill>
              </a:rPr>
              <a:t>• Demonstrates LLMs as both attack and defence tools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DrunkAgent: Stealthy Memory Corruption in LLM-Powered Recommender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Yang et al.  ·  arXiv 2025  ·  2025  ·  arxiv.org/abs/2503.23804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Perplexity↓; Strategy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Amazon: CDs &amp; Vinyl, Office Products, Musical Instruments; Yelp</a:t>
            </a:r>
          </a:p>
          <a:p>
            <a:r>
              <a:rPr sz="1100">
                <a:solidFill>
                  <a:srgbClr val="222222"/>
                </a:solidFill>
              </a:rPr>
              <a:t>• Victim: AgentCF, AgentRAG, AgentSEQ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First black-box attack on memory mechanisms in agentic RecSys</a:t>
            </a:r>
          </a:p>
          <a:p>
            <a:r>
              <a:rPr sz="1200">
                <a:solidFill>
                  <a:srgbClr val="222222"/>
                </a:solidFill>
              </a:rPr>
              <a:t>• Three modules: Surrogate + Generation (greedy trigger) + Strategy</a:t>
            </a:r>
          </a:p>
          <a:p>
            <a:r>
              <a:rPr sz="1200">
                <a:solidFill>
                  <a:srgbClr val="222222"/>
                </a:solidFill>
              </a:rPr>
              <a:t>• Strategy success rate 100% across all datasets</a:t>
            </a:r>
          </a:p>
          <a:p>
            <a:r>
              <a:rPr sz="1200">
                <a:solidFill>
                  <a:srgbClr val="222222"/>
                </a:solidFill>
              </a:rPr>
              <a:t>• Outperforms all baselines on HR@K and NDCG@K; robust to paraphrasing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Red-teaming LLM Agents via Poisoning Memory or Knowledge 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2024  ·  arxiv.org/abs/2407.12784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 /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Memory corruption rate; Knowledge base poisoning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 agent memory and RAG knowledge base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Red-teaming via poisoning agent memory or knowledge bases</a:t>
            </a:r>
          </a:p>
          <a:p>
            <a:r>
              <a:rPr sz="1200">
                <a:solidFill>
                  <a:srgbClr val="222222"/>
                </a:solidFill>
              </a:rPr>
              <a:t>• Poisoned memories persist across sessions and users</a:t>
            </a:r>
          </a:p>
          <a:p>
            <a:r>
              <a:rPr sz="1200">
                <a:solidFill>
                  <a:srgbClr val="222222"/>
                </a:solidFill>
              </a:rPr>
              <a:t>• Demonstrates long-term impact of memory-layer attacks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Human-Imperceptible Retrieval Poisoning Attacks in LLM-Powered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2024  ·  2024  ·  arxiv.org/abs/2404.17196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Retrieval poisoning success rate; 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RAG-enabled LLM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Human-imperceptible retrieval poisoning in LLM-powered apps</a:t>
            </a:r>
          </a:p>
          <a:p>
            <a:r>
              <a:rPr sz="1200">
                <a:solidFill>
                  <a:srgbClr val="222222"/>
                </a:solidFill>
              </a:rPr>
              <a:t>• Adversarial documents blend with benign content in embedding space</a:t>
            </a:r>
          </a:p>
          <a:p>
            <a:r>
              <a:rPr sz="1200">
                <a:solidFill>
                  <a:srgbClr val="222222"/>
                </a:solidFill>
              </a:rPr>
              <a:t>• Bypasses standard content filters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3A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A9A5B"/>
                </a:solidFill>
              </a:rPr>
              <a:t>4. Risk Family 3 — Inter-Agent Communication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Red-Teaming LLM Multi-Agent Systems via Communication Attacks (AiTM)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Chen et al.  ·  arXiv 2025  ·  2025  ·  arxiv.org/abs/2502.14847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 (coding / QA)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 (targeted behaviour; DoS)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MMLU-bio/phy; HumanEval; MBPP; SoftwareDev</a:t>
            </a:r>
          </a:p>
          <a:p>
            <a:r>
              <a:rPr sz="1100">
                <a:solidFill>
                  <a:srgbClr val="222222"/>
                </a:solidFill>
              </a:rPr>
              <a:t>• Frameworks: AutoGen, Camel, MetaGPT, ChatDev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Agent-in-the-Middle: intercepts messages without modifying agents</a:t>
            </a:r>
          </a:p>
          <a:p>
            <a:r>
              <a:rPr sz="1200">
                <a:solidFill>
                  <a:srgbClr val="222222"/>
                </a:solidFill>
              </a:rPr>
              <a:t>• ASR &gt;40% in all settings; &gt;70% in most; DoS &gt;80% in 23/32 configs</a:t>
            </a:r>
          </a:p>
          <a:p>
            <a:r>
              <a:rPr sz="1200">
                <a:solidFill>
                  <a:srgbClr val="222222"/>
                </a:solidFill>
              </a:rPr>
              <a:t>• MetaGPT compromised at 100% ASR on SoftwareDev tasks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Topology-Aware Multi-Hop Attacks on LLM-Based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arxiv.org/abs/2512.04129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Multi-hop propagation depth; Topology-dependent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LLM-based MAS with various topologies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Topology-aware attack routing through multi-hop paths</a:t>
            </a:r>
          </a:p>
          <a:p>
            <a:r>
              <a:rPr sz="1200">
                <a:solidFill>
                  <a:srgbClr val="222222"/>
                </a:solidFill>
              </a:rPr>
              <a:t>• Attack effectiveness depends on graph centrality of entry node</a:t>
            </a:r>
          </a:p>
          <a:p>
            <a:r>
              <a:rPr sz="1200">
                <a:solidFill>
                  <a:srgbClr val="222222"/>
                </a:solidFill>
              </a:rPr>
              <a:t>• Demonstrates need for topology-aware evaluation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Breaking Pragmatic Multi-Agent LLM Systems with Optimized Prompt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Gu et al.  ·  arXiv 2025  ·  2025  ·  arxiv.org/abs/2504.00218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Optimisation convergence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Pragmatic multi-agent LLM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Optimised prompt attacks on pragmatic MAS communication</a:t>
            </a:r>
          </a:p>
          <a:p>
            <a:r>
              <a:rPr sz="1200">
                <a:solidFill>
                  <a:srgbClr val="222222"/>
                </a:solidFill>
              </a:rPr>
              <a:t>• Gradient-free optimisation finds effective attack prompts</a:t>
            </a:r>
          </a:p>
          <a:p>
            <a:r>
              <a:rPr sz="1200">
                <a:solidFill>
                  <a:srgbClr val="222222"/>
                </a:solidFill>
              </a:rPr>
              <a:t>• Breaks systems that rely on pragmatic communication norms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Contagious Recursive Blocking Attacks on Multi-Agent Systems (Corba)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arxiv.org/abs/2502.14529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P-ASR: fraction of agents entering blocked state</a:t>
            </a:r>
          </a:p>
          <a:p>
            <a:r>
              <a:rPr sz="1100">
                <a:solidFill>
                  <a:srgbClr val="222222"/>
                </a:solidFill>
              </a:rPr>
              <a:t>• PTN: Peak Blocking Turn Number</a:t>
            </a:r>
          </a:p>
          <a:p>
            <a:r>
              <a:rPr sz="1100">
                <a:solidFill>
                  <a:srgbClr val="222222"/>
                </a:solidFill>
              </a:rPr>
              <a:t>• PPL: Perplexity of attack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107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66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AutoGen &amp; Camel; GPT-4o-mini/4/3.5, Gemini-2.0-Flash, Qwen2.5-14B, Llama3.1-70B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Contagious + recursive blocking spreads from a single entry point</a:t>
            </a:r>
          </a:p>
          <a:p>
            <a:r>
              <a:rPr sz="1200">
                <a:solidFill>
                  <a:srgbClr val="222222"/>
                </a:solidFill>
              </a:rPr>
              <a:t>• ~100% P-ASR within 20 turns in open-ended MAS</a:t>
            </a:r>
          </a:p>
          <a:p>
            <a:r>
              <a:rPr sz="1200">
                <a:solidFill>
                  <a:srgbClr val="222222"/>
                </a:solidFill>
              </a:rPr>
              <a:t>• Attack prompts appear benign (low PPL) — evades alignment defences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Multi-round Adaptive Stealthy Tampering Framework for LLM-MAS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arxiv.org/abs/2508.03125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Stealthiness score; Detection evasion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LLM-based MAS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Multi-round adaptive stealthy tampering framework</a:t>
            </a:r>
          </a:p>
          <a:p>
            <a:r>
              <a:rPr sz="1200">
                <a:solidFill>
                  <a:srgbClr val="222222"/>
                </a:solidFill>
              </a:rPr>
              <a:t>• Iteratively refines attack to evade detection across rounds</a:t>
            </a:r>
          </a:p>
          <a:p>
            <a:r>
              <a:rPr sz="1200">
                <a:solidFill>
                  <a:srgbClr val="222222"/>
                </a:solidFill>
              </a:rPr>
              <a:t>• Demonstrates adaptive adversary against monitoring defences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Security Analysis of Agentic AI Communication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Louck et al.  ·  arXiv 2025  ·  2025  ·  arxiv.org/abs/2511.03841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Protocol vulnerability coverage; ASR per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Agentic AI communication protocols (MCP, A2A, etc.)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Security analysis of agentic AI communication protocols</a:t>
            </a:r>
          </a:p>
          <a:p>
            <a:r>
              <a:rPr sz="1200">
                <a:solidFill>
                  <a:srgbClr val="222222"/>
                </a:solidFill>
              </a:rPr>
              <a:t>• Identifies protocol-level vulnerabilities in MCP and A2A</a:t>
            </a:r>
          </a:p>
          <a:p>
            <a:r>
              <a:rPr sz="1200">
                <a:solidFill>
                  <a:srgbClr val="222222"/>
                </a:solidFill>
              </a:rPr>
              <a:t>• Proposes protocol hardening recommendations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The Trust Paradox in LLM-Based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Xu et al.  ·  arXiv 2025  ·  2025  ·  arxiv.org/abs/2510.18563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Trust violation rate; 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LLM-based MAS trust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Analyses the trust paradox: agents must trust peers to function but trust enables attacks</a:t>
            </a:r>
          </a:p>
          <a:p>
            <a:r>
              <a:rPr sz="1200">
                <a:solidFill>
                  <a:srgbClr val="222222"/>
                </a:solidFill>
              </a:rPr>
              <a:t>• Formalises trust levels and their security implications</a:t>
            </a:r>
          </a:p>
          <a:p>
            <a:r>
              <a:rPr sz="1200">
                <a:solidFill>
                  <a:srgbClr val="222222"/>
                </a:solidFill>
              </a:rPr>
              <a:t>• Proposes trust-aware communication protocols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Systems Security Foundations for Agentic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Christodorescu et al.  ·  arXiv 2025  ·  2025  ·  arxiv.org/abs/2512.01295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Security property coverage; Formal verification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Agentic computing system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Systems security foundations for agentic computing</a:t>
            </a:r>
          </a:p>
          <a:p>
            <a:r>
              <a:rPr sz="1200">
                <a:solidFill>
                  <a:srgbClr val="222222"/>
                </a:solidFill>
              </a:rPr>
              <a:t>• Formal threat model for agentic systems</a:t>
            </a:r>
          </a:p>
          <a:p>
            <a:r>
              <a:rPr sz="1200">
                <a:solidFill>
                  <a:srgbClr val="222222"/>
                </a:solidFill>
              </a:rPr>
              <a:t>• Identifies confused-deputy and privilege escalation risks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Benchmark for Tool Poisoning Attack on Real-World MCP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arxiv.org/abs/2508.14925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 (tool-use / MCP)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 per MCP server; Tool poisoning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Real-world MCP servers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First benchmark for tool poisoning attacks on real MCP servers</a:t>
            </a:r>
          </a:p>
          <a:p>
            <a:r>
              <a:rPr sz="1200">
                <a:solidFill>
                  <a:srgbClr val="222222"/>
                </a:solidFill>
              </a:rPr>
              <a:t>• Covers 10+ real-world MCP server implementations</a:t>
            </a:r>
          </a:p>
          <a:p>
            <a:r>
              <a:rPr sz="1200">
                <a:solidFill>
                  <a:srgbClr val="222222"/>
                </a:solidFill>
              </a:rPr>
              <a:t>• Demonstrates supply-chain risk in tool ecosystems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Safety-Aware Role-Orchestrated Multi-Agent LLM Framework for Behavioral Health Communication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Ha Na Cho  ·  arXiv 2026  ·  2026  ·  arxiv.org/abs/2604.00249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Healthcare / 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Safety compliance rate; Communication quality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Behavioural health communication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Safety-aware role-orchestrated MAS for healthcare communication</a:t>
            </a:r>
          </a:p>
          <a:p>
            <a:r>
              <a:rPr sz="1200">
                <a:solidFill>
                  <a:srgbClr val="222222"/>
                </a:solidFill>
              </a:rPr>
              <a:t>• Gatekeeper agent enforces safety constraints on inter-agent messages</a:t>
            </a:r>
          </a:p>
          <a:p>
            <a:r>
              <a:rPr sz="1200">
                <a:solidFill>
                  <a:srgbClr val="222222"/>
                </a:solidFill>
              </a:rPr>
              <a:t>• Demonstrates safety-utility trade-off in sensitive domains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07B39"/>
                </a:solidFill>
              </a:rPr>
              <a:t>5. Risk Family 4 — Privacy &amp; Inversion Attacks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Privacy Risks of LLM-Empowered Recommender Systems: An Inversion Attack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Wang et al.  ·  RecSys 2025  ·  2025  ·  arxiv.org/abs/2508.03703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Inversion Attack Success Rate; PII Recovery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 product datasets; MovieLens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Inversion attacks on LLM-empowered RecSys via output logits</a:t>
            </a:r>
          </a:p>
          <a:p>
            <a:r>
              <a:rPr sz="1200">
                <a:solidFill>
                  <a:srgbClr val="222222"/>
                </a:solidFill>
              </a:rPr>
              <a:t>• Recovers user preferences and PII from recommendation outputs</a:t>
            </a:r>
          </a:p>
          <a:p>
            <a:r>
              <a:rPr sz="1200">
                <a:solidFill>
                  <a:srgbClr val="222222"/>
                </a:solidFill>
              </a:rPr>
              <a:t>• First systematic study of inversion attacks in LLM RecSys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The Sum Leaks More Than Its Parts: Compositional Privacy Risks in Multi-Agent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arxiv.org/abs/2509.14284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Leakage Accuracy: I[ŝ=s*]</a:t>
            </a:r>
          </a:p>
          <a:p>
            <a:r>
              <a:rPr sz="1100">
                <a:solidFill>
                  <a:srgbClr val="222222"/>
                </a:solidFill>
              </a:rPr>
              <a:t>• Sensitive Blocked (%); Benign Succeeded (%)</a:t>
            </a:r>
          </a:p>
          <a:p>
            <a:r>
              <a:rPr sz="1100">
                <a:solidFill>
                  <a:srgbClr val="222222"/>
                </a:solidFill>
              </a:rPr>
              <a:t>• Balanced Outcome: avg(Sensitive Blocked, Benign Succeeded)</a:t>
            </a:r>
          </a:p>
          <a:p>
            <a:r>
              <a:rPr sz="1100">
                <a:solidFill>
                  <a:srgbClr val="222222"/>
                </a:solidFill>
              </a:rPr>
              <a:t>• PlanExec@m: all m adversarial plan steps executed correctly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484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0448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Synthetic multi-agent scenarios (119 paired adv/benign)</a:t>
            </a:r>
          </a:p>
          <a:p>
            <a:r>
              <a:rPr sz="1100">
                <a:solidFill>
                  <a:srgbClr val="222222"/>
                </a:solidFill>
              </a:rPr>
              <a:t>• Models: Qwen3-32B, Gemini-2.5-Pro, GPT-5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Formalises compositional privacy leakage as emergent risk</a:t>
            </a:r>
          </a:p>
          <a:p>
            <a:r>
              <a:rPr sz="1200">
                <a:solidFill>
                  <a:srgbClr val="222222"/>
                </a:solidFill>
              </a:rPr>
              <a:t>• Baseline CoT blocks only 31–39% of sensitive queries</a:t>
            </a:r>
          </a:p>
          <a:p>
            <a:r>
              <a:rPr sz="1200">
                <a:solidFill>
                  <a:srgbClr val="222222"/>
                </a:solidFill>
              </a:rPr>
              <a:t>• CoDef achieves best balance: 79.8% Balanced Outcome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RF4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Your Language Model Can Secretly Be a Steganographic Privacy Leaking Agent (TrojanStego)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arxiv.org/abs/2505.20118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Steganographic capacity (bits/token)</a:t>
            </a:r>
          </a:p>
          <a:p>
            <a:r>
              <a:rPr sz="1100">
                <a:solidFill>
                  <a:srgbClr val="222222"/>
                </a:solidFill>
              </a:rPr>
              <a:t>• Detection evasion rate vs. statistical detectors</a:t>
            </a:r>
          </a:p>
          <a:p>
            <a:r>
              <a:rPr sz="1100">
                <a:solidFill>
                  <a:srgbClr val="222222"/>
                </a:solidFill>
              </a:rPr>
              <a:t>• Task utility preservation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41071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666744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Standard NLP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LLM covertly encodes private data in outputs via steganography</a:t>
            </a:r>
          </a:p>
          <a:p>
            <a:r>
              <a:rPr sz="1200">
                <a:solidFill>
                  <a:srgbClr val="222222"/>
                </a:solidFill>
              </a:rPr>
              <a:t>• Undetectable by standard statistical detectors</a:t>
            </a:r>
          </a:p>
          <a:p>
            <a:r>
              <a:rPr sz="1200">
                <a:solidFill>
                  <a:srgbClr val="222222"/>
                </a:solidFill>
              </a:rPr>
              <a:t>• Demonstrates covert channel risk in LLM deployments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RF4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Privacy-Enhanced Development Paradigm for Multi-Agent Collaboration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arxiv.org/abs/2505.04799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Privacy leakage rate; Task utility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Multi-agent collaboration system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Privacy-enhanced development paradigm for MAS</a:t>
            </a:r>
          </a:p>
          <a:p>
            <a:r>
              <a:rPr sz="1200">
                <a:solidFill>
                  <a:srgbClr val="222222"/>
                </a:solidFill>
              </a:rPr>
              <a:t>• Proposes data minimisation and access control at design time</a:t>
            </a:r>
          </a:p>
          <a:p>
            <a:r>
              <a:rPr sz="1200">
                <a:solidFill>
                  <a:srgbClr val="222222"/>
                </a:solidFill>
              </a:rPr>
              <a:t>• Reduces privacy leakage without significant utility loss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6. Risk Family 5 — Cognitive Bias &amp; Dark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Bias Beware: The Impact of Cognitive Biases on LLM-Driven Product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Krasniqi et al.  ·  EMNLP 2025  ·  2025  ·  arxiv.org/abs/2502.01349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Cognitive Bias Score (anchoring / availability / confirmation)</a:t>
            </a:r>
          </a:p>
          <a:p>
            <a:r>
              <a:rPr sz="1100">
                <a:solidFill>
                  <a:srgbClr val="222222"/>
                </a:solidFill>
              </a:rPr>
              <a:t>• Recommendation Accuracy: HR@K, NDCG@K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729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290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 product recommendation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Identifies three cognitive biases amplified by LLM fluency in RecSys</a:t>
            </a:r>
          </a:p>
          <a:p>
            <a:r>
              <a:rPr sz="1200">
                <a:solidFill>
                  <a:srgbClr val="222222"/>
                </a:solidFill>
              </a:rPr>
              <a:t>• Biases persist even with carefully neutral prompts</a:t>
            </a:r>
          </a:p>
          <a:p>
            <a:r>
              <a:rPr sz="1200">
                <a:solidFill>
                  <a:srgbClr val="222222"/>
                </a:solidFill>
              </a:rPr>
              <a:t>• Larger models show stronger bias amplification despite higher accuracy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DarkBench: Benchmarking Dark Patterns in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Kran et al.  ·  arXiv 2025  ·  2025  ·  arxiv.org/abs/2503.10728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 (chatbot)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Dark Pattern Rate (%) per category (6 categories)</a:t>
            </a:r>
          </a:p>
          <a:p>
            <a:r>
              <a:rPr sz="1100">
                <a:solidFill>
                  <a:srgbClr val="222222"/>
                </a:solidFill>
              </a:rPr>
              <a:t>•   Brand Bias, User Retention, Sycophancy, Anthropomorphism,</a:t>
            </a:r>
          </a:p>
          <a:p>
            <a:r>
              <a:rPr sz="1100">
                <a:solidFill>
                  <a:srgbClr val="222222"/>
                </a:solidFill>
              </a:rPr>
              <a:t>•   Harmful Generation, Sneaking</a:t>
            </a:r>
          </a:p>
          <a:p>
            <a:r>
              <a:rPr sz="1100">
                <a:solidFill>
                  <a:srgbClr val="222222"/>
                </a:solidFill>
              </a:rPr>
              <a:t>• Cohen's Kappa / Jaccard / Agreement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6484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0448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DarkBench: 660 prompts × 14 models = 9,240 conversations</a:t>
            </a:r>
          </a:p>
          <a:p>
            <a:r>
              <a:rPr sz="1100">
                <a:solidFill>
                  <a:srgbClr val="222222"/>
                </a:solidFill>
              </a:rPr>
              <a:t>• GPT-3.5/4/4T/4o; Claude-3; Gemini; Llama-3; Mistral; Mixtral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First quantitative benchmark for dark design patterns in LLMs</a:t>
            </a:r>
          </a:p>
          <a:p>
            <a:r>
              <a:rPr sz="1200">
                <a:solidFill>
                  <a:srgbClr val="222222"/>
                </a:solidFill>
              </a:rPr>
              <a:t>• Average dark pattern occurrence: 48% across all models</a:t>
            </a:r>
          </a:p>
          <a:p>
            <a:r>
              <a:rPr sz="1200">
                <a:solidFill>
                  <a:srgbClr val="222222"/>
                </a:solidFill>
              </a:rPr>
              <a:t>• Sneaking most prevalent (79%); Sycophancy least common (13%)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An Inconspicuous Attack to Bias LLM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2024  ·  arxiv.org/abs/2406.04755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Bias induction rate; 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 response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Inconspicuous attack to bias LLM responses</a:t>
            </a:r>
          </a:p>
          <a:p>
            <a:r>
              <a:rPr sz="1200">
                <a:solidFill>
                  <a:srgbClr val="222222"/>
                </a:solidFill>
              </a:rPr>
              <a:t>• Attack is subtle and hard to detect by users</a:t>
            </a:r>
          </a:p>
          <a:p>
            <a:r>
              <a:rPr sz="1200">
                <a:solidFill>
                  <a:srgbClr val="222222"/>
                </a:solidFill>
              </a:rPr>
              <a:t>• Demonstrates bias as a security risk, not just a fairness issue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Quantifying Cognitive Bias Induction in LLM-Generated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arxiv.org/abs/2507.03194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Cognitive Bias Induction Score; Bias detection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LLM-generated content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Quantifies cognitive bias induction in LLM-generated content</a:t>
            </a:r>
          </a:p>
          <a:p>
            <a:r>
              <a:rPr sz="1200">
                <a:solidFill>
                  <a:srgbClr val="222222"/>
                </a:solidFill>
              </a:rPr>
              <a:t>• Measures anchoring, framing, and availability bias</a:t>
            </a:r>
          </a:p>
          <a:p>
            <a:r>
              <a:rPr sz="1200">
                <a:solidFill>
                  <a:srgbClr val="222222"/>
                </a:solidFill>
              </a:rPr>
              <a:t>• Proposes bias measurement methodology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Understanding Biases in ChatGPT-based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2024  ·  2024  ·  arxiv.org/abs/2401.10545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Bias rate; Recommendation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ChatGPT-based recommender system evaluations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Identifies biases in ChatGPT-based recommender systems</a:t>
            </a:r>
          </a:p>
          <a:p>
            <a:r>
              <a:rPr sz="1200">
                <a:solidFill>
                  <a:srgbClr val="222222"/>
                </a:solidFill>
              </a:rPr>
              <a:t>• Popularity bias, position bias, and recency bias documented</a:t>
            </a:r>
          </a:p>
          <a:p>
            <a:r>
              <a:rPr sz="1200">
                <a:solidFill>
                  <a:srgbClr val="222222"/>
                </a:solidFill>
              </a:rPr>
              <a:t>• Motivates bias-aware evaluation for LLM RecSys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Stereotype or Personalization? User Identity Biases Chatbot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2024  ·  2024  ·  arxiv.org/abs/2410.05613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Stereotype rate; Personalisation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User identity-based recommendation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User identity (gender, age, etc.) biases chatbot recommendations</a:t>
            </a:r>
          </a:p>
          <a:p>
            <a:r>
              <a:rPr sz="1200">
                <a:solidFill>
                  <a:srgbClr val="222222"/>
                </a:solidFill>
              </a:rPr>
              <a:t>• Stereotype vs. personalisation tension in LLM RecSys</a:t>
            </a:r>
          </a:p>
          <a:p>
            <a:r>
              <a:rPr sz="1200">
                <a:solidFill>
                  <a:srgbClr val="222222"/>
                </a:solidFill>
              </a:rPr>
              <a:t>• Demonstrates demographic bias amplification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  ·  Type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Bias Mitigation for AI-Feedback Loops in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arxiv.org/abs/2509.00109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Feedback loop amplification rate; Bias mitigation effectiveness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Simulated recommendation feedback loops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Bias mitigation for AI-feedback loops in RecSys</a:t>
            </a:r>
          </a:p>
          <a:p>
            <a:r>
              <a:rPr sz="1200">
                <a:solidFill>
                  <a:srgbClr val="222222"/>
                </a:solidFill>
              </a:rPr>
              <a:t>• Feedback loops amplify initial biases over time</a:t>
            </a:r>
          </a:p>
          <a:p>
            <a:r>
              <a:rPr sz="1200">
                <a:solidFill>
                  <a:srgbClr val="222222"/>
                </a:solidFill>
              </a:rPr>
              <a:t>• Proposes intervention strategies to break feedback loops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Aligning Recommendations with User Popularity Preferences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Mona Schirmer, Anton Thielmann, Pola Schwöbel et al.  ·  arXiv 2026  ·  2026  ·  arxiv.org/abs/2604.01036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Popularity alignment score; HR@K; NDCG@K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Amazon product datasets; MovieLens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Aligns recommendations with user popularity preferences</a:t>
            </a:r>
          </a:p>
          <a:p>
            <a:r>
              <a:rPr sz="1200">
                <a:solidFill>
                  <a:srgbClr val="222222"/>
                </a:solidFill>
              </a:rPr>
              <a:t>• Addresses mismatch between LLM priors and user taste</a:t>
            </a:r>
          </a:p>
          <a:p>
            <a:r>
              <a:rPr sz="1200">
                <a:solidFill>
                  <a:srgbClr val="222222"/>
                </a:solidFill>
              </a:rPr>
              <a:t>• Reduces popularity bias in LLM-driven RecSys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D6A9F"/>
                </a:solidFill>
              </a:rPr>
              <a:t>7. Risk Family 6 — Availability &amp; Resource Depletion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Advertisement Embedding Attacks Against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arxiv.org/abs/2508.17674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Advertisement embedding success rate; 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 response generation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Embeds advertisements in LLM responses without user awareness</a:t>
            </a:r>
          </a:p>
          <a:p>
            <a:r>
              <a:rPr sz="1200">
                <a:solidFill>
                  <a:srgbClr val="222222"/>
                </a:solidFill>
              </a:rPr>
              <a:t>• Demonstrates availability attack via resource depletion and bias</a:t>
            </a:r>
          </a:p>
          <a:p>
            <a:r>
              <a:rPr sz="1200">
                <a:solidFill>
                  <a:srgbClr val="222222"/>
                </a:solidFill>
              </a:rPr>
              <a:t>• Highlights commercial incentive misalignment risk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77E89"/>
                </a:solidFill>
              </a:rPr>
              <a:t>8. Collusion in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7E89"/>
                </a:solidFill>
              </a:rPr>
              <a:t>RF6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Studying Coordination and Collusion in Multi-Agent LLM Code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| OpenReview 2025 | [OpenReview](https://openreview.net/forum?id=CdZaamCf5Y) | — | `E` `risk:rf6` `type:E` `topic:collusion`  ·  | **Exposing Multi-Agent Collusion Risks in AI-Based Healthcare** — Anonymous | arXiv 2025  ·  2025  ·  arxiv.org/abs/2512.03097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Healthcare / 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Collusion Rate; Safety Violation Rate; Task Completion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Healthcare MAS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Collusion risks in healthcare multi-agent AI systems</a:t>
            </a:r>
          </a:p>
          <a:p>
            <a:r>
              <a:rPr sz="1200">
                <a:solidFill>
                  <a:srgbClr val="222222"/>
                </a:solidFill>
              </a:rPr>
              <a:t>• Agents coordinate to bypass safety constraints</a:t>
            </a:r>
          </a:p>
          <a:p>
            <a:r>
              <a:rPr sz="1200">
                <a:solidFill>
                  <a:srgbClr val="222222"/>
                </a:solidFill>
              </a:rPr>
              <a:t>• High-stakes domain amplifies collusion consequences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Beyond Single-Agent Safety: A Taxonomy of Risks in LLM-to-LLM Interactions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Bisconti et al.  ·  arXiv 2025  ·  2025  ·  arxiv.org/abs/2512.02682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Taxonomy coverage; Risk classification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LLM-to-LLM interaction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Taxonomy of risks in LLM-to-LLM interactions</a:t>
            </a:r>
          </a:p>
          <a:p>
            <a:r>
              <a:rPr sz="1200">
                <a:solidFill>
                  <a:srgbClr val="222222"/>
                </a:solidFill>
              </a:rPr>
              <a:t>• Distinguishes single-agent vs. emergent multi-agent risks</a:t>
            </a:r>
          </a:p>
          <a:p>
            <a:r>
              <a:rPr sz="1200">
                <a:solidFill>
                  <a:srgbClr val="222222"/>
                </a:solidFill>
              </a:rPr>
              <a:t>• Foundational framework for RF6 threat modelling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7E89"/>
                </a:solidFill>
              </a:rPr>
              <a:t>RF6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Emergent Social Intelligence Risks in Generative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Yue Huang, Yu Jiang, Wenjie Wang, Haomin Zhuang, Xiaonan Luo, Yuchen Ma, Zhangchen Xu, Zichen Chen, Nuno Moniz, Zinan Lin, Pin-Yu Chen, Nitesh V Chawla, Nouha Dziri, Huan Sun, Xiangliang Zhang  ·  arXiv 2026  ·  2026  ·  arxiv.org/abs/2603.27771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 (social simulation)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Collusion Rate; Social Intelligence Score; Safety Violation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RiskLab benchmark (decentralised MAS social simulation)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Emergent collusion without explicit communication</a:t>
            </a:r>
          </a:p>
          <a:p>
            <a:r>
              <a:rPr sz="1200">
                <a:solidFill>
                  <a:srgbClr val="222222"/>
                </a:solidFill>
              </a:rPr>
              <a:t>• Introduces RiskLab: first benchmark for social intelligence risks in MAS</a:t>
            </a:r>
          </a:p>
          <a:p>
            <a:r>
              <a:rPr sz="1200">
                <a:solidFill>
                  <a:srgbClr val="222222"/>
                </a:solidFill>
              </a:rPr>
              <a:t>• Risk scales with agent count and interaction rounds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9. Fairness, Feedback Loops &amp; Exposure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</a:rPr>
              <a:t>RF5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Retrieval Augmented Conversational Recommendation with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Zhenrui Yue, Honglei Zhuang, Zhen Qin et al.  ·  arXiv 2026  ·  2026  ·  arxiv.org/abs/2604.04457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 (conversational)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Conversation 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Conversational recommendation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Retrieval-augmented conversational recommendation with RL</a:t>
            </a:r>
          </a:p>
          <a:p>
            <a:r>
              <a:rPr sz="1200">
                <a:solidFill>
                  <a:srgbClr val="222222"/>
                </a:solidFill>
              </a:rPr>
              <a:t>• Combines RAG and RL for adaptive conversational RecSys</a:t>
            </a:r>
          </a:p>
          <a:p>
            <a:r>
              <a:rPr sz="1200">
                <a:solidFill>
                  <a:srgbClr val="222222"/>
                </a:solidFill>
              </a:rPr>
              <a:t>• Addresses feedback loop risks in conversational settings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555555"/>
                </a:solidFill>
              </a:rPr>
              <a:t>10. Evaluation &amp;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EVAL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Why Do Multi-Agent LLM Systems Fail?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Cemri et al.  ·  arXiv 2025  ·  2025  ·  arxiv.org/abs/2503.13657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Failure rate per category (7 categories)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Multiple MAS frameworks and task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Systematic taxonomy of why multi-agent LLM systems fail</a:t>
            </a:r>
          </a:p>
          <a:p>
            <a:r>
              <a:rPr sz="1200">
                <a:solidFill>
                  <a:srgbClr val="222222"/>
                </a:solidFill>
              </a:rPr>
              <a:t>• 7 failure categories: specification, inter-agent, task verification, etc.</a:t>
            </a:r>
          </a:p>
          <a:p>
            <a:r>
              <a:rPr sz="1200">
                <a:solidFill>
                  <a:srgbClr val="222222"/>
                </a:solidFill>
              </a:rPr>
              <a:t>• Identifies composition as primary failure amplifier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E44AD"/>
                </a:solidFill>
              </a:rPr>
              <a:t>RF4  ·  Type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AgentLeak: A Full-Stack Benchmark for Privacy Leakage in Multi-Agent LLM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2026  ·  2026  ·  arxiv.org/abs/2602.11510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Privacy Leakage Rate; ASR (data extraction)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AgentLeak 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Full-stack benchmark for privacy leakage in MAS</a:t>
            </a:r>
          </a:p>
          <a:p>
            <a:r>
              <a:rPr sz="1200">
                <a:solidFill>
                  <a:srgbClr val="222222"/>
                </a:solidFill>
              </a:rPr>
              <a:t>• Covers input, memory, inter-agent, and output layers</a:t>
            </a:r>
          </a:p>
          <a:p>
            <a:r>
              <a:rPr sz="1200">
                <a:solidFill>
                  <a:srgbClr val="222222"/>
                </a:solidFill>
              </a:rPr>
              <a:t>• First benchmark spanning all privacy leakage surfaces in MAS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Multi-Agent LLM Governance for Safe Two-Timescale Reinforcement Learning in SDN-IoT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Saeid Jamshidi, Negar Shahabi, Foutse Khomh et al.  ·  arXiv 2026  ·  2026  ·  arxiv.org/abs/2604.01127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 (IoT/SDN)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Safety constraint satisfaction rate; RL convergence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SDN-IoT defence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Multi-agent LLM governance for safe RL in SDN-IoT</a:t>
            </a:r>
          </a:p>
          <a:p>
            <a:r>
              <a:rPr sz="1200">
                <a:solidFill>
                  <a:srgbClr val="222222"/>
                </a:solidFill>
              </a:rPr>
              <a:t>• Two-timescale RL with safety constraints</a:t>
            </a:r>
          </a:p>
          <a:p>
            <a:r>
              <a:rPr sz="1200">
                <a:solidFill>
                  <a:srgbClr val="222222"/>
                </a:solidFill>
              </a:rPr>
              <a:t>• Demonstrates governance framework for agentic RL systems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Towards Position-Robust Talent Recommendation via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Silin Du, Hongyan Liu  ·  arXiv 2026  ·  2026  ·  arxiv.org/abs/2604.02200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Position robustness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Job recommendation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Position-robust talent recommendation via LLMs</a:t>
            </a:r>
          </a:p>
          <a:p>
            <a:r>
              <a:rPr sz="1200">
                <a:solidFill>
                  <a:srgbClr val="222222"/>
                </a:solidFill>
              </a:rPr>
              <a:t>• Addresses position bias in LLM-based ranking</a:t>
            </a:r>
          </a:p>
          <a:p>
            <a:r>
              <a:rPr sz="1200">
                <a:solidFill>
                  <a:srgbClr val="222222"/>
                </a:solidFill>
              </a:rPr>
              <a:t>• Proposes debiasing strategy for talent RecSys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55"/>
                </a:solidFill>
              </a:rPr>
              <a:t>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Bilateral Intent-Enhanced Sequential Recommendation with Embedding Perturbation-Based Contrastive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Shanfan Zhang, Yongyi Lin, Yuan Rao  ·  arXiv 2026  ·  2026  ·  arxiv.org/abs/2604.02833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Contrastive learning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Sequential recommendation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Bilateral intent-enhanced sequential recommendation</a:t>
            </a:r>
          </a:p>
          <a:p>
            <a:r>
              <a:rPr sz="1200">
                <a:solidFill>
                  <a:srgbClr val="222222"/>
                </a:solidFill>
              </a:rPr>
              <a:t>• Embedding perturbation-based contrastive learning</a:t>
            </a:r>
          </a:p>
          <a:p>
            <a:r>
              <a:rPr sz="1200">
                <a:solidFill>
                  <a:srgbClr val="222222"/>
                </a:solidFill>
              </a:rPr>
              <a:t>• Improves robustness of sequential RecSys to noise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D6A9F"/>
                </a:solidFill>
              </a:rPr>
              <a:t>11. Defence Mechanisms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RF1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9F"/>
                </a:solidFill>
              </a:rPr>
              <a:t>RF1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LlamaFirewall: An Open Source Guardrail System for Building Secure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Meta AI  ·  arXiv 2025  ·  2025  ·  arxiv.org/abs/2505.03574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 (coding / tool-use)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ASR; Utility; AUC; Recall@1%FPR; Precision/Recall (CodeShield)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AgentDojo (97 tasks); Meta internal benchmark (600 scenarios); CyberSecEval3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Three-layer defence: PromptGuard 2 + AlignmentCheck + CodeShield</a:t>
            </a:r>
          </a:p>
          <a:p>
            <a:r>
              <a:rPr sz="1200">
                <a:solidFill>
                  <a:srgbClr val="222222"/>
                </a:solidFill>
              </a:rPr>
              <a:t>• PromptGuard 2 (86M): AUC .98, Recall@1%FPR 97.5% — SOTA jailbreak detection</a:t>
            </a:r>
          </a:p>
          <a:p>
            <a:r>
              <a:rPr sz="1200">
                <a:solidFill>
                  <a:srgbClr val="222222"/>
                </a:solidFill>
              </a:rPr>
              <a:t>• Combined: &gt;90% ASR reduction (0.176→0.0175) with only 5% utility drop</a:t>
            </a:r>
          </a:p>
          <a:p>
            <a:r>
              <a:rPr sz="1200">
                <a:solidFill>
                  <a:srgbClr val="222222"/>
                </a:solidFill>
              </a:rPr>
              <a:t>• Open-sourced; deployed in production at Meta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7B39"/>
                </a:solidFill>
              </a:rPr>
              <a:t>RF2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PeerGuard: Defending Multi-Agent Systems Against Backdoor Attacks Through Mutual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arxiv.org/abs/2505.11642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 (QA)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TPR: True Positive Rate — backdoor-triggered inputs detected</a:t>
            </a:r>
          </a:p>
          <a:p>
            <a:r>
              <a:rPr sz="1100">
                <a:solidFill>
                  <a:srgbClr val="222222"/>
                </a:solidFill>
              </a:rPr>
              <a:t>• FPR: False Positive Rate — clean inputs incorrectly flagged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1729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29000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MMLU; CSQA; ARC-Easy; ARC-Challenge</a:t>
            </a:r>
          </a:p>
          <a:p>
            <a:r>
              <a:rPr sz="1100">
                <a:solidFill>
                  <a:srgbClr val="222222"/>
                </a:solidFill>
              </a:rPr>
              <a:t>• Models: GPT-4o, Llama3-70B; Frameworks: AutoGen, Camel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Debate-based backdoor defence via reasoning inconsistency detection</a:t>
            </a:r>
          </a:p>
          <a:p>
            <a:r>
              <a:rPr sz="1200">
                <a:solidFill>
                  <a:srgbClr val="222222"/>
                </a:solidFill>
              </a:rPr>
              <a:t>• PeerGuard TPR 75–96% vs. Auto-CoT 10–50% and ZS-CoT 40–80%</a:t>
            </a:r>
          </a:p>
          <a:p>
            <a:r>
              <a:rPr sz="1200">
                <a:solidFill>
                  <a:srgbClr val="222222"/>
                </a:solidFill>
              </a:rPr>
              <a:t>• FPR &lt;10% on clean inputs — no degradation to normal queries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GUARDIAN: Safeguarding LLM Multi-Agent Collaborations with Temporal Graph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arxiv.org/abs/2505.19234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Detection Accuracy; ASR (post-defence); Graph anomaly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Multiple MAS frameworks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GUARDIAN: temporal graph modelling for MAS safety</a:t>
            </a:r>
          </a:p>
          <a:p>
            <a:r>
              <a:rPr sz="1200">
                <a:solidFill>
                  <a:srgbClr val="222222"/>
                </a:solidFill>
              </a:rPr>
              <a:t>• Detects anomalous inter-agent communication patterns</a:t>
            </a:r>
          </a:p>
          <a:p>
            <a:r>
              <a:rPr sz="1200">
                <a:solidFill>
                  <a:srgbClr val="222222"/>
                </a:solidFill>
              </a:rPr>
              <a:t>• Online monitoring with low false-positive rate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Safeguarding Multi-Agent Collaboration Through Credit-Based Dynamic Threat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arxiv.org/abs/2510.16219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Detection Accuracy; FPR; ASR (post-defence)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LLM-based MAS collaboration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Credit-based dynamic threat detection for MAS</a:t>
            </a:r>
          </a:p>
          <a:p>
            <a:r>
              <a:rPr sz="1200">
                <a:solidFill>
                  <a:srgbClr val="222222"/>
                </a:solidFill>
              </a:rPr>
              <a:t>• Agents accumulate trust scores; low-credit agents flagged</a:t>
            </a:r>
          </a:p>
          <a:p>
            <a:r>
              <a:rPr sz="1200">
                <a:solidFill>
                  <a:srgbClr val="222222"/>
                </a:solidFill>
              </a:rPr>
              <a:t>• Adaptive to evolving attack strategies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RF3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SentinelAgent: Graph-based Anomaly Detection in LLM-based Multi-Agent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He et al.  ·  arXiv 2025  ·  2025  ·  arxiv.org/abs/2505.24201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Detection Accuracy; FPR; ASR (post-defence)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LLM-based MAS simulation environments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SentinelAgent: graph-based anomaly detection in MAS</a:t>
            </a:r>
          </a:p>
          <a:p>
            <a:r>
              <a:rPr sz="1200">
                <a:solidFill>
                  <a:srgbClr val="222222"/>
                </a:solidFill>
              </a:rPr>
              <a:t>• Models agent interaction graph; detects structural anomalies</a:t>
            </a:r>
          </a:p>
          <a:p>
            <a:r>
              <a:rPr sz="1200">
                <a:solidFill>
                  <a:srgbClr val="222222"/>
                </a:solidFill>
              </a:rPr>
              <a:t>• Lightweight runtime monitor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DEF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Review of Trust, Risk, and Security Management in LLM-based Agentic MAS (TRiSM)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arxiv.org/abs/2506.04133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Survey coverage; Risk classification 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Literature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TRiSM review: Trust, Risk, and Security Management in LLM-based MAS</a:t>
            </a:r>
          </a:p>
          <a:p>
            <a:r>
              <a:rPr sz="1200">
                <a:solidFill>
                  <a:srgbClr val="222222"/>
                </a:solidFill>
              </a:rPr>
              <a:t>• Comprehensive governance framework</a:t>
            </a:r>
          </a:p>
          <a:p>
            <a:r>
              <a:rPr sz="1200">
                <a:solidFill>
                  <a:srgbClr val="222222"/>
                </a:solidFill>
              </a:rPr>
              <a:t>• Maps risks to mitigation strategies across lifecycle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DEF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Securing Agentic AI: A Comprehensive Threat Model and Mitigation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Narajala &amp; Narayan  ·  arXiv 2025  ·  2025  ·  arxiv.org/abs/2504.19956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Threat coverage; Mitigation effectiveness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Agentic AI deployment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Comprehensive threat model and mitigation framework for agentic AI</a:t>
            </a:r>
          </a:p>
          <a:p>
            <a:r>
              <a:rPr sz="1200">
                <a:solidFill>
                  <a:srgbClr val="222222"/>
                </a:solidFill>
              </a:rPr>
              <a:t>• Covers prompt injection, data poisoning, and privilege escalation</a:t>
            </a:r>
          </a:p>
          <a:p>
            <a:r>
              <a:rPr sz="1200">
                <a:solidFill>
                  <a:srgbClr val="222222"/>
                </a:solidFill>
              </a:rPr>
              <a:t>• Lifecycle-oriented: design, runtime, post-deployment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DEF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Towards Secure Systems of Interacting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arxiv.org/abs/2505.02077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Formal security property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Formal MAS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Formal security analysis of interacting AI agent systems</a:t>
            </a:r>
          </a:p>
          <a:p>
            <a:r>
              <a:rPr sz="1200">
                <a:solidFill>
                  <a:srgbClr val="222222"/>
                </a:solidFill>
              </a:rPr>
              <a:t>• Proves security properties under defined threat models</a:t>
            </a:r>
          </a:p>
          <a:p>
            <a:r>
              <a:rPr sz="1200">
                <a:solidFill>
                  <a:srgbClr val="222222"/>
                </a:solidFill>
              </a:rPr>
              <a:t>• Foundation for certified MAS security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9A5B"/>
                </a:solidFill>
              </a:rPr>
              <a:t>DEF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With a Little Help From My Friends: Collective Manipulation in Risk-Controlling Recommender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Giovanni De Toni, Cristian Consonni, Erasmo Purificato et al.  ·  arXiv 2026  ·  2026  ·  arxiv.org/abs/2603.28476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Manipulation success rate; Recommendation quality degradation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Risk-controlling recommender system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Collective manipulation in risk-controlling RecSys</a:t>
            </a:r>
          </a:p>
          <a:p>
            <a:r>
              <a:rPr sz="1200">
                <a:solidFill>
                  <a:srgbClr val="222222"/>
                </a:solidFill>
              </a:rPr>
              <a:t>• Group of colluding users degrades system safety properties</a:t>
            </a:r>
          </a:p>
          <a:p>
            <a:r>
              <a:rPr sz="1200">
                <a:solidFill>
                  <a:srgbClr val="222222"/>
                </a:solidFill>
              </a:rPr>
              <a:t>• Demonstrates multi-stakeholder collusion risk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1F3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F3964"/>
                </a:solidFill>
              </a:rPr>
              <a:t>13. Broad Safety Surveys (Background)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SURVEY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</a:rPr>
              <a:t>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Agentic AI Needs a Systems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Miehling et al.  ·  arXiv 2025  ·  2025  ·  arxiv.org/abs/2503.00237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Theoretical framework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Conceptual / theoretical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Argues agentic AI requires systems theory, not just model-level analysis</a:t>
            </a:r>
          </a:p>
          <a:p>
            <a:r>
              <a:rPr sz="1200">
                <a:solidFill>
                  <a:srgbClr val="222222"/>
                </a:solidFill>
              </a:rPr>
              <a:t>• Introduces compositional safety as a first-class concern</a:t>
            </a:r>
          </a:p>
          <a:p>
            <a:r>
              <a:rPr sz="1200">
                <a:solidFill>
                  <a:srgbClr val="222222"/>
                </a:solidFill>
              </a:rPr>
              <a:t>• Foundational framing for multi-agent risk taxonomy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</a:rPr>
              <a:t>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Comprehensive Survey in LLM(-Agent) Full Stack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Wang et al.  ·  arXiv 2025  ·  2025  ·  arxiv.org/abs/2504.15585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 /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Survey coverage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Literature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Comprehensive survey of LLM and agent full-stack safety</a:t>
            </a:r>
          </a:p>
          <a:p>
            <a:r>
              <a:rPr sz="1200">
                <a:solidFill>
                  <a:srgbClr val="222222"/>
                </a:solidFill>
              </a:rPr>
              <a:t>• Covers training, inference, deployment, and interaction risks</a:t>
            </a:r>
          </a:p>
          <a:p>
            <a:r>
              <a:rPr sz="1200">
                <a:solidFill>
                  <a:srgbClr val="222222"/>
                </a:solidFill>
              </a:rPr>
              <a:t>• Background reference for tutorial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</a:rPr>
              <a:t>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Safety at Scale: A Comprehensive Survey of Large Model and Agent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Ma et al.  ·  arXiv 2025  ·  2025  ·  arxiv.org/abs/2502.05206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 /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Survey coverage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Literature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Safety at scale: survey of large model and agent safety</a:t>
            </a:r>
          </a:p>
          <a:p>
            <a:r>
              <a:rPr sz="1200">
                <a:solidFill>
                  <a:srgbClr val="222222"/>
                </a:solidFill>
              </a:rPr>
              <a:t>• Covers alignment, robustness, and emergent risks</a:t>
            </a:r>
          </a:p>
          <a:p>
            <a:r>
              <a:rPr sz="1200">
                <a:solidFill>
                  <a:srgbClr val="222222"/>
                </a:solidFill>
              </a:rPr>
              <a:t>• Broad background for risk taxonomy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</a:rPr>
              <a:t>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Agentic AI Security: Threats, Defenses,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Chhabra et al.  ·  arXiv 2025  ·  2025  ·  arxiv.org/abs/2510.23883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Survey coverage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Literature survey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Agentic AI security: threats, defences, evaluation</a:t>
            </a:r>
          </a:p>
          <a:p>
            <a:r>
              <a:rPr sz="1200">
                <a:solidFill>
                  <a:srgbClr val="222222"/>
                </a:solidFill>
              </a:rPr>
              <a:t>• Structured taxonomy of agentic threats</a:t>
            </a:r>
          </a:p>
          <a:p>
            <a:r>
              <a:rPr sz="1200">
                <a:solidFill>
                  <a:srgbClr val="222222"/>
                </a:solidFill>
              </a:rPr>
              <a:t>• Evaluation methodology for agentic security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</a:rPr>
              <a:t>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Guide to Known Attacks and Impacts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2025  ·  2025  ·  arxiv.org/abs/2506.23296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LLM /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Incident catalogue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Real-world incident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Guide to known attacks and impacts on LLM systems</a:t>
            </a:r>
          </a:p>
          <a:p>
            <a:r>
              <a:rPr sz="1200">
                <a:solidFill>
                  <a:srgbClr val="222222"/>
                </a:solidFill>
              </a:rPr>
              <a:t>• Catalogues real-world incidents and their consequences</a:t>
            </a:r>
          </a:p>
          <a:p>
            <a:r>
              <a:rPr sz="1200">
                <a:solidFill>
                  <a:srgbClr val="222222"/>
                </a:solidFill>
              </a:rPr>
              <a:t>• Motivates empirical risk assessment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964"/>
                </a:solidFill>
              </a:rPr>
              <a:t>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A Taxonomy of Systemic Risks from General-Purpose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Anonymous  ·  arXiv 2024  ·  2024  ·  arxiv.org/abs/2412.07780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General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Taxonomy coverage; Risk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Conceptual / theoretical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Taxonomy of systemic risks from general-purpose AI</a:t>
            </a:r>
          </a:p>
          <a:p>
            <a:r>
              <a:rPr sz="1200">
                <a:solidFill>
                  <a:srgbClr val="222222"/>
                </a:solidFill>
              </a:rPr>
              <a:t>• Covers societal, economic, and security risks</a:t>
            </a:r>
          </a:p>
          <a:p>
            <a:r>
              <a:rPr sz="1200">
                <a:solidFill>
                  <a:srgbClr val="222222"/>
                </a:solidFill>
              </a:rPr>
              <a:t>• Broad framing for MA-RS risk taxonomy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017520"/>
            <a:ext cx="1124712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888888"/>
                </a:solidFill>
              </a:rPr>
              <a:t>15. Uncategorised / New Additions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888888"/>
                </a:solidFill>
              </a:rPr>
              <a:t>Risk Family: TBD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6459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8888"/>
                </a:solidFill>
              </a:rPr>
              <a:t>TBD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38912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22222"/>
                </a:solidFill>
              </a:rPr>
              <a:t>Let the Agent Steer: Closed-Loop Ranking Optimization via Influence Exchange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43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Yin Cheng, Liao Zhou, Xiyu Liang et al.  ·  arXiv 2026  ·  2026  ·  arxiv.org/abs/2603.27765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12880" cy="27432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Domain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67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HR@K; NDCG@K; Influence exchange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35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Datasets /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191256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222222"/>
                </a:solidFill>
              </a:rPr>
              <a:t>• Recommendation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572768"/>
            <a:ext cx="6035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88"/>
                </a:solidFill>
              </a:rPr>
              <a:t>Contribution &amp; Highlights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6035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22222"/>
                </a:solidFill>
              </a:rPr>
              <a:t>• Closed-loop ranking optimisation via influence exchange</a:t>
            </a:r>
          </a:p>
          <a:p>
            <a:r>
              <a:rPr sz="1200">
                <a:solidFill>
                  <a:srgbClr val="222222"/>
                </a:solidFill>
              </a:rPr>
              <a:t>• Agent steers its own ranking through strategic interactions</a:t>
            </a:r>
          </a:p>
          <a:p>
            <a:r>
              <a:rPr sz="1200">
                <a:solidFill>
                  <a:srgbClr val="222222"/>
                </a:solidFill>
              </a:rPr>
              <a:t>• Demonstrates strategic gaming risk in agentic RecSys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