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Evaluation Metrics in MA-RS Security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AACCFF"/>
                </a:solidFill>
              </a:rPr>
              <a:t>By Provenance  ·  By Risk Family (Kurt's Taxonomy)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Evaluation Framework  ·  What to Measure (By Provenance)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" y="658368"/>
          <a:ext cx="11914630" cy="6080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4633"/>
                <a:gridCol w="1191463"/>
                <a:gridCol w="5004145"/>
                <a:gridCol w="3574389"/>
              </a:tblGrid>
              <a:tr h="50673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Paper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Domain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Metrics (Acronym: Definition)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Datasets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</a:tr>
              <a:tr h="50673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00000"/>
                          </a:solidFill>
                        </a:rPr>
                        <a:t>InjecAgent
(Zhan et al., ACL'24)
[RF1]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00000"/>
                          </a:solidFill>
                        </a:rPr>
                        <a:t>General agent
(tool-use)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000000"/>
                          </a:solidFill>
                        </a:rPr>
                        <a:t>ASR-valid: ASR among valid outputs
ASR-all: ASR across all outputs
Sensitivity Rate: % outputs recognising attack as abnormal
Valid Rate: % outputs parseable as valid agent actions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000000"/>
                          </a:solidFill>
                        </a:rPr>
                        <a:t>InjecAgent benchmark
(1,054 test cases, 17 user tools, 62 attacker tools)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673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00000"/>
                          </a:solidFill>
                        </a:rPr>
                        <a:t>LlamaFirewall
(Meta AI, 2025)
[RF1]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00000"/>
                          </a:solidFill>
                        </a:rPr>
                        <a:t>General agent
(coding/tool-use)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000000"/>
                          </a:solidFill>
                        </a:rPr>
                        <a:t>ASR: Attack Success Rate (post-guardrail)
Utility: Task success rate under defence
AUC: Area Under ROC for jailbreak detection
Recall @ 1% FPR: detection rate at low false-positive threshold
Precision / Recall: CodeShield insecure-code detection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000000"/>
                          </a:solidFill>
                        </a:rPr>
                        <a:t>AgentDojo (97 tasks)
Meta internal goal-hijacking benchmark (600 scenarios)
CyberSecEval3 (50 code completions/language)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50673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00000"/>
                          </a:solidFill>
                        </a:rPr>
                        <a:t>CORBA
(Zhou et al., 2025)
[RF1, RF6]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00000"/>
                          </a:solidFill>
                        </a:rPr>
                        <a:t>General MAS
(AutoGen, Camel)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000000"/>
                          </a:solidFill>
                        </a:rPr>
                        <a:t>P-ASR: Proportional Attack Success Rate
  = fraction of agents entering blocked state
PTN: Peak Blocking Turn Number
  = turns until attack stabilises at max P-ASR
PPL: Perplexity of attack prompt (stealthiness proxy)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000000"/>
                          </a:solidFill>
                        </a:rPr>
                        <a:t>AutoGen &amp; Camel frameworks
Open-ended MAS (6-agent free dialogue)
Models: GPT-4o-mini, GPT-4, GPT-3.5-turbo, Gemini-2.0-Flash,
  Qwen2.5-14B, Llama3.1-70B, Gemma-2-27B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673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00000"/>
                          </a:solidFill>
                        </a:rPr>
                        <a:t>AiTM
(He et al., ACL'25)
[RF3]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00000"/>
                          </a:solidFill>
                        </a:rPr>
                        <a:t>General MAS
(coding/QA)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000000"/>
                          </a:solidFill>
                        </a:rPr>
                        <a:t>ASR: Attack Success Rate
  (targeted behaviour or DoS success fraction)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000000"/>
                          </a:solidFill>
                        </a:rPr>
                        <a:t>MMLU (biology, physics)
HumanEval (164 coding problems)
MBPP (974 coding tasks)
SoftwareDev (MetaGPT tasks)
Frameworks: AutoGen, Camel, MetaGPT, ChatDev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50673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00000"/>
                          </a:solidFill>
                        </a:rPr>
                        <a:t>DrunkAgent
(Yang et al., 2025)
[RF2]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00000"/>
                          </a:solidFill>
                        </a:rPr>
                        <a:t>RecSys
(agentic CF/RAG/Seq)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000000"/>
                          </a:solidFill>
                        </a:rPr>
                        <a:t>HR@K: Hit Ratio at K (attack transferability)
NDCG@K: Normalised Discounted Cumulative Gain at K
Perplexity ↓: text naturalness (stealthiness)
Strategy Success Rate: % target agents 'drunk'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000000"/>
                          </a:solidFill>
                        </a:rPr>
                        <a:t>Amazon Review Data:
  CDs &amp; Vinyl, Office Products, Musical Instruments
Yelp (cross-domain generalisation)
Victim systems: AgentCF, AgentRAG, AgentSEQ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673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00000"/>
                          </a:solidFill>
                        </a:rPr>
                        <a:t>PeerGuard
(Fan &amp; Li, 2025)
[RF2]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00000"/>
                          </a:solidFill>
                        </a:rPr>
                        <a:t>General MAS
(QA/reasoning)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000000"/>
                          </a:solidFill>
                        </a:rPr>
                        <a:t>TPR: True Positive Rate (backdoor-triggered inputs detected)
FPR: False Positive Rate (clean inputs incorrectly flagged)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000000"/>
                          </a:solidFill>
                        </a:rPr>
                        <a:t>MMLU (57 fields)
CSQA (12,247 common-sense questions)
ARC-Easy / ARC-Challenge
Models: GPT-4o, Llama3-70B
Frameworks: AutoGen, Camel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50673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00000"/>
                          </a:solidFill>
                        </a:rPr>
                        <a:t>Compositional Privacy
(Patil et al., 2025)
[RF3, RF4]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00000"/>
                          </a:solidFill>
                        </a:rPr>
                        <a:t>General MAS
(enterprise/org)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000000"/>
                          </a:solidFill>
                        </a:rPr>
                        <a:t>Leakage Accuracy: I[ŝ = s*] — adversary infers sensitive target
Sensitive Blocked (%): sensitive scenarios fully blocked
Benign Succeeded (%): benign queries answered correctly
Balanced Outcome: avg(Sensitive Blocked, Benign Succeeded)
Overall Success: both blocked &amp; benign succeed simultaneously
PlanExec@m: all m plan steps executed correctly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000000"/>
                          </a:solidFill>
                        </a:rPr>
                        <a:t>Synthetic multi-agent scenarios (119 paired adv/benign)
Models: Qwen3-32B, Gemini-2.5-Pro, GPT-5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673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00000"/>
                          </a:solidFill>
                        </a:rPr>
                        <a:t>TrojanStego
(Anon., 2025)
[RF4]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00000"/>
                          </a:solidFill>
                        </a:rPr>
                        <a:t>General LLM
(steganography)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000000"/>
                          </a:solidFill>
                        </a:rPr>
                        <a:t>Steganographic capacity (bits/token)
Detection evasion rate vs. statistical detectors
Task utility preservation (downstream accuracy)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000000"/>
                          </a:solidFill>
                        </a:rPr>
                        <a:t>Standard NLP benchmarks
(paper-specific; details in full text)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50673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00000"/>
                          </a:solidFill>
                        </a:rPr>
                        <a:t>DarkBench
(Kran et al., 2025)
[RF5]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00000"/>
                          </a:solidFill>
                        </a:rPr>
                        <a:t>General chatbot
(LLM products)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000000"/>
                          </a:solidFill>
                        </a:rPr>
                        <a:t>Dark Pattern Rate (%): fraction of conversations exhibiting
  each of 6 categories:
  Brand Bias, User Retention, Sycophancy,
  Anthropomorphism, Harmful Generation, Sneaking
Cohen's Kappa / Jaccard / Agreement Rate: inter-annotator agreement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000000"/>
                          </a:solidFill>
                        </a:rPr>
                        <a:t>DarkBench (660 adversarial prompts × 14 models)
Models: GPT-3.5/4/4-Turbo/4o, Claude-3 family,
  Gemini-1.0/1.5, Llama-3-8B/70B, Mistral-7B, Mixtral-8x7B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673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00000"/>
                          </a:solidFill>
                        </a:rPr>
                        <a:t>Bias Beware
(Krasniqi et al., EMNLP'25)
[RF5]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00000"/>
                          </a:solidFill>
                        </a:rPr>
                        <a:t>RecSys
(product rec.)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000000"/>
                          </a:solidFill>
                        </a:rPr>
                        <a:t>Cognitive Bias Score: LLM-judged presence of
  anchoring, availability, confirmation bias
Recommendation Accuracy: standard RecSys metrics
Bias-Accuracy Trade-off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000000"/>
                          </a:solidFill>
                        </a:rPr>
                        <a:t>Amazon product recommendation scenarios
(paper-specific datasets)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50673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00000"/>
                          </a:solidFill>
                        </a:rPr>
                        <a:t>Emergent Social Intelligence
(Huang et al., 2026)
[RF6]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00000"/>
                          </a:solidFill>
                        </a:rPr>
                        <a:t>General MAS
(social simulation)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000000"/>
                          </a:solidFill>
                        </a:rPr>
                        <a:t>Collusion Rate: fraction of agent pairs exhibiting
  coordinated unsafe behaviour
Social Intelligence Score: emergent cooperation metrics
Safety Violation Rate: policy-breaking outputs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000000"/>
                          </a:solidFill>
                        </a:rPr>
                        <a:t>RiskLab benchmark
(decentralised MAS social simulation)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Evaluation Framework  ·  What to Measure (By Risk Family)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" y="658368"/>
          <a:ext cx="11914631" cy="6080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4633"/>
                <a:gridCol w="2621219"/>
                <a:gridCol w="4527560"/>
                <a:gridCol w="2621219"/>
              </a:tblGrid>
              <a:tr h="20269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Risk Family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Definition / Formula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Source Papers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</a:tr>
              <a:tr h="202692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RF1
Prompt Injection &amp; Jailbreaking
(Amplified + Emergent)</a:t>
                      </a:r>
                    </a:p>
                  </a:txBody>
                  <a:tcPr>
                    <a:solidFill>
                      <a:srgbClr val="2D6A9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000000"/>
                          </a:solidFill>
                        </a:rPr>
                        <a:t>ASR / ASR-valid / ASR-all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000000"/>
                          </a:solidFill>
                        </a:rPr>
                        <a:t>% trials achieving attacker goal; -valid restricts to parseable outputs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000000"/>
                          </a:solidFill>
                        </a:rPr>
                        <a:t>InjecAgent, AiTM, LlamaFirewall, CORBA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2692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2D6A9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000000"/>
                          </a:solidFill>
                        </a:rPr>
                        <a:t>Sensitivity Rate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000000"/>
                          </a:solidFill>
                        </a:rPr>
                        <a:t>% agent outputs recognising injected instruction as abnormal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000000"/>
                          </a:solidFill>
                        </a:rPr>
                        <a:t>InjecAgent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202692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2D6A9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000000"/>
                          </a:solidFill>
                        </a:rPr>
                        <a:t>Valid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000000"/>
                          </a:solidFill>
                        </a:rPr>
                        <a:t>% outputs parseable as valid agent actions (proxy for model capability)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000000"/>
                          </a:solidFill>
                        </a:rPr>
                        <a:t>InjecAgent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2692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2D6A9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000000"/>
                          </a:solidFill>
                        </a:rPr>
                        <a:t>AUC / Recall@1%FPR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000000"/>
                          </a:solidFill>
                        </a:rPr>
                        <a:t>Classifier performance for jailbreak detection at low false-positive rate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000000"/>
                          </a:solidFill>
                        </a:rPr>
                        <a:t>LlamaFirewall (PromptGuard 2)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202692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2D6A9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000000"/>
                          </a:solidFill>
                        </a:rPr>
                        <a:t>Utility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000000"/>
                          </a:solidFill>
                        </a:rPr>
                        <a:t>Task success rate under defence (measures defence cost)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000000"/>
                          </a:solidFill>
                        </a:rPr>
                        <a:t>LlamaFirewall, AiTM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2692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RF2
Data Poisoning &amp; Backdoor Attacks
(Amplified)</a:t>
                      </a:r>
                    </a:p>
                  </a:txBody>
                  <a:tcPr>
                    <a:solidFill>
                      <a:srgbClr val="E07B3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000000"/>
                          </a:solidFill>
                        </a:rPr>
                        <a:t>HR@K / NDCG@K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000000"/>
                          </a:solidFill>
                        </a:rPr>
                        <a:t>Hit Ratio / Normalised DCG at rank K — attack transferability in RecSys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000000"/>
                          </a:solidFill>
                        </a:rPr>
                        <a:t>DrunkAgent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202692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07B3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000000"/>
                          </a:solidFill>
                        </a:rPr>
                        <a:t>Perplexity 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000000"/>
                          </a:solidFill>
                        </a:rPr>
                        <a:t>Text naturalness of adversarial item description (lower = stealthier)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000000"/>
                          </a:solidFill>
                        </a:rPr>
                        <a:t>DrunkAgent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2692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07B3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000000"/>
                          </a:solidFill>
                        </a:rPr>
                        <a:t>Strategy Success Rate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000000"/>
                          </a:solidFill>
                        </a:rPr>
                        <a:t>% target item agents successfully 'drunk' (memory corrupted)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000000"/>
                          </a:solidFill>
                        </a:rPr>
                        <a:t>DrunkAgent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202692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07B3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000000"/>
                          </a:solidFill>
                        </a:rPr>
                        <a:t>TPR / FPR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000000"/>
                          </a:solidFill>
                        </a:rPr>
                        <a:t>True/False Positive Rate for backdoor detection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000000"/>
                          </a:solidFill>
                        </a:rPr>
                        <a:t>PeerGuard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2692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07B3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000000"/>
                          </a:solidFill>
                        </a:rPr>
                        <a:t>ASR (backdoor)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000000"/>
                          </a:solidFill>
                        </a:rPr>
                        <a:t>% triggered inputs producing target (wrong) output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000000"/>
                          </a:solidFill>
                        </a:rPr>
                        <a:t>PeerGuard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202692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RF3
Inter-Agent Communication Attacks
(Emergent)</a:t>
                      </a:r>
                    </a:p>
                  </a:txBody>
                  <a:tcPr>
                    <a:solidFill>
                      <a:srgbClr val="3A9A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000000"/>
                          </a:solidFill>
                        </a:rPr>
                        <a:t>ASR (communication)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000000"/>
                          </a:solidFill>
                        </a:rPr>
                        <a:t>% inter-agent message manipulations achieving attacker goal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000000"/>
                          </a:solidFill>
                        </a:rPr>
                        <a:t>AiTM, CORBA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2692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3A9A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000000"/>
                          </a:solidFill>
                        </a:rPr>
                        <a:t>P-ASR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000000"/>
                          </a:solidFill>
                        </a:rPr>
                        <a:t>Proportional ASR = fraction of agents entering blocked/compromised state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000000"/>
                          </a:solidFill>
                        </a:rPr>
                        <a:t>CORBA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202692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3A9A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000000"/>
                          </a:solidFill>
                        </a:rPr>
                        <a:t>PTN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000000"/>
                          </a:solidFill>
                        </a:rPr>
                        <a:t>Peak Blocking Turn Number = turns until attack stabilises at max P-ASR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000000"/>
                          </a:solidFill>
                        </a:rPr>
                        <a:t>CORBA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2692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3A9A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000000"/>
                          </a:solidFill>
                        </a:rPr>
                        <a:t>Leakage Accuracy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000000"/>
                          </a:solidFill>
                        </a:rPr>
                        <a:t>I[ŝ = s*]: adversary correctly infers sensitive target via composition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000000"/>
                          </a:solidFill>
                        </a:rPr>
                        <a:t>Compositional Privacy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202692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3A9A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000000"/>
                          </a:solidFill>
                        </a:rPr>
                        <a:t>PlanExec@m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000000"/>
                          </a:solidFill>
                        </a:rPr>
                        <a:t>All m adversarial plan steps executed correctly (execution fidelity)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000000"/>
                          </a:solidFill>
                        </a:rPr>
                        <a:t>Compositional Privacy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2692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RF4
Privacy &amp; Inversion Attacks
(Amplified + Emergent)</a:t>
                      </a:r>
                    </a:p>
                  </a:txBody>
                  <a:tcPr>
                    <a:solidFill>
                      <a:srgbClr val="8E44A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000000"/>
                          </a:solidFill>
                        </a:rPr>
                        <a:t>Sensitive Blocked (%)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000000"/>
                          </a:solidFill>
                        </a:rPr>
                        <a:t>% sensitive scenarios where adversary completely fails to infer target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000000"/>
                          </a:solidFill>
                        </a:rPr>
                        <a:t>Compositional Privacy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202692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8E44A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000000"/>
                          </a:solidFill>
                        </a:rPr>
                        <a:t>Benign Succeeded (%)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000000"/>
                          </a:solidFill>
                        </a:rPr>
                        <a:t>% benign queries answered correctly without obstruction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000000"/>
                          </a:solidFill>
                        </a:rPr>
                        <a:t>Compositional Privacy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2692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8E44A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000000"/>
                          </a:solidFill>
                        </a:rPr>
                        <a:t>Balanced Outcome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000000"/>
                          </a:solidFill>
                        </a:rPr>
                        <a:t>avg(Sensitive Blocked, Benign Succeeded) — privacy-utility trade-off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000000"/>
                          </a:solidFill>
                        </a:rPr>
                        <a:t>Compositional Privacy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202692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8E44A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000000"/>
                          </a:solidFill>
                        </a:rPr>
                        <a:t>Steganographic Capacity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000000"/>
                          </a:solidFill>
                        </a:rPr>
                        <a:t>Bits of covert information per token (TrojanStego)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000000"/>
                          </a:solidFill>
                        </a:rPr>
                        <a:t>TrojanStego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2692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8E44A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000000"/>
                          </a:solidFill>
                        </a:rPr>
                        <a:t>Leakage Rate / τ_leak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000000"/>
                          </a:solidFill>
                        </a:rPr>
                        <a:t>Fraction of PII entities recovered; time to first leak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000000"/>
                          </a:solidFill>
                        </a:rPr>
                        <a:t>MAMA (from provenance table)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202692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RF5
Cognitive Bias &amp; Dark Patterns
(Amplified)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000000"/>
                          </a:solidFill>
                        </a:rPr>
                        <a:t>Dark Pattern Rate (%)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000000"/>
                          </a:solidFill>
                        </a:rPr>
                        <a:t>Fraction of conversations exhibiting each of 6 dark pattern categories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000000"/>
                          </a:solidFill>
                        </a:rPr>
                        <a:t>DarkBench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2692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000000"/>
                          </a:solidFill>
                        </a:rPr>
                        <a:t>Cohen's Kappa / Jaccard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000000"/>
                          </a:solidFill>
                        </a:rPr>
                        <a:t>Inter-annotator agreement for dark pattern annotation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000000"/>
                          </a:solidFill>
                        </a:rPr>
                        <a:t>DarkBench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202692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000000"/>
                          </a:solidFill>
                        </a:rPr>
                        <a:t>Cognitive Bias 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000000"/>
                          </a:solidFill>
                        </a:rPr>
                        <a:t>LLM-judged presence of anchoring, availability, confirmation bias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000000"/>
                          </a:solidFill>
                        </a:rPr>
                        <a:t>Bias Beware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2692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000000"/>
                          </a:solidFill>
                        </a:rPr>
                        <a:t>ASR-H@r / ASR-N@r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000000"/>
                          </a:solidFill>
                        </a:rPr>
                        <a:t>Drop in Hit Ratio / NDCG caused by bias-inducing attack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000000"/>
                          </a:solidFill>
                        </a:rPr>
                        <a:t>CheatAgent (from provenance table)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202692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RF6
Availability, Collusion &amp; Resource Depletion
(Emergent)</a:t>
                      </a:r>
                    </a:p>
                  </a:txBody>
                  <a:tcPr>
                    <a:solidFill>
                      <a:srgbClr val="177E8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000000"/>
                          </a:solidFill>
                        </a:rPr>
                        <a:t>P-ASR / PTN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000000"/>
                          </a:solidFill>
                        </a:rPr>
                        <a:t>Proportional ASR and Peak Blocking Turn Number (availability attacks)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000000"/>
                          </a:solidFill>
                        </a:rPr>
                        <a:t>CORBA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2692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177E8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000000"/>
                          </a:solidFill>
                        </a:rPr>
                        <a:t>Collusion Rate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000000"/>
                          </a:solidFill>
                        </a:rPr>
                        <a:t>Fraction of agent pairs exhibiting coordinated unsafe behaviour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000000"/>
                          </a:solidFill>
                        </a:rPr>
                        <a:t>Emergent Social Intelligence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202692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177E8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000000"/>
                          </a:solidFill>
                        </a:rPr>
                        <a:t>Safety Violation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000000"/>
                          </a:solidFill>
                        </a:rPr>
                        <a:t>% outputs violating safety policy under collusion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000000"/>
                          </a:solidFill>
                        </a:rPr>
                        <a:t>Emergent Social Intelligence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2692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177E8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000000"/>
                          </a:solidFill>
                        </a:rPr>
                        <a:t>Agent Blocking Rate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000000"/>
                          </a:solidFill>
                        </a:rPr>
                        <a:t>Fraction of agents rendered non-functional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000000"/>
                          </a:solidFill>
                        </a:rPr>
                        <a:t>CORBA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202692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177E8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000000"/>
                          </a:solidFill>
                        </a:rPr>
                        <a:t>CPU/Memory/Latency Delta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000000"/>
                          </a:solidFill>
                        </a:rPr>
                        <a:t>Computational overhead induced by attack/defence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000000"/>
                          </a:solidFill>
                        </a:rPr>
                        <a:t>TOMA (from provenance table)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